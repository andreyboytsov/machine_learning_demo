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sldIdLst>
    <p:sldId id="256" r:id="rId2"/>
    <p:sldId id="257" r:id="rId3"/>
    <p:sldId id="303" r:id="rId4"/>
    <p:sldId id="258" r:id="rId5"/>
    <p:sldId id="259" r:id="rId6"/>
    <p:sldId id="260" r:id="rId7"/>
    <p:sldId id="261" r:id="rId8"/>
    <p:sldId id="266" r:id="rId9"/>
    <p:sldId id="262" r:id="rId10"/>
    <p:sldId id="267" r:id="rId11"/>
    <p:sldId id="276" r:id="rId12"/>
    <p:sldId id="269" r:id="rId13"/>
    <p:sldId id="270" r:id="rId14"/>
    <p:sldId id="272" r:id="rId15"/>
    <p:sldId id="273" r:id="rId16"/>
    <p:sldId id="305" r:id="rId17"/>
    <p:sldId id="263" r:id="rId18"/>
    <p:sldId id="280" r:id="rId19"/>
    <p:sldId id="286" r:id="rId20"/>
    <p:sldId id="290" r:id="rId21"/>
    <p:sldId id="288" r:id="rId22"/>
    <p:sldId id="289" r:id="rId23"/>
    <p:sldId id="265" r:id="rId24"/>
    <p:sldId id="294" r:id="rId25"/>
    <p:sldId id="284" r:id="rId26"/>
    <p:sldId id="264" r:id="rId27"/>
    <p:sldId id="297" r:id="rId28"/>
    <p:sldId id="298" r:id="rId29"/>
    <p:sldId id="296" r:id="rId30"/>
    <p:sldId id="279" r:id="rId31"/>
    <p:sldId id="301" r:id="rId32"/>
    <p:sldId id="278" r:id="rId33"/>
    <p:sldId id="304" r:id="rId34"/>
    <p:sldId id="283" r:id="rId35"/>
    <p:sldId id="302" r:id="rId36"/>
    <p:sldId id="275" r:id="rId3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31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L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1B351D-6CF6-49A2-9AD9-8F715BF31C35}" type="datetimeFigureOut">
              <a:rPr lang="fr-LU" smtClean="0"/>
              <a:t>22/03/2026</a:t>
            </a:fld>
            <a:endParaRPr lang="fr-L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L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L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L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6EA703-262B-4D80-ACF3-A6527822D48E}" type="slidenum">
              <a:rPr lang="fr-LU" smtClean="0"/>
              <a:t>‹#›</a:t>
            </a:fld>
            <a:endParaRPr lang="fr-LU"/>
          </a:p>
        </p:txBody>
      </p:sp>
    </p:spTree>
    <p:extLst>
      <p:ext uri="{BB962C8B-B14F-4D97-AF65-F5344CB8AC3E}">
        <p14:creationId xmlns:p14="http://schemas.microsoft.com/office/powerpoint/2010/main" val="30799805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LU" dirty="0" err="1"/>
              <a:t>Immediatelz</a:t>
            </a:r>
            <a:r>
              <a:rPr lang="fr-LU" dirty="0"/>
              <a:t> do not </a:t>
            </a:r>
            <a:r>
              <a:rPr lang="fr-LU" dirty="0" err="1"/>
              <a:t>conflate</a:t>
            </a:r>
            <a:r>
              <a:rPr lang="fr-LU" dirty="0"/>
              <a:t> machine </a:t>
            </a:r>
            <a:r>
              <a:rPr lang="fr-LU" dirty="0" err="1"/>
              <a:t>learning</a:t>
            </a:r>
            <a:r>
              <a:rPr lang="fr-LU" dirty="0"/>
              <a:t> and AI in </a:t>
            </a:r>
            <a:r>
              <a:rPr lang="fr-LU" dirty="0" err="1"/>
              <a:t>general</a:t>
            </a:r>
            <a:r>
              <a:rPr lang="fr-LU" dirty="0"/>
              <a:t>. </a:t>
            </a:r>
            <a:r>
              <a:rPr lang="fr-LU" dirty="0" err="1"/>
              <a:t>Otherwise</a:t>
            </a:r>
            <a:r>
              <a:rPr lang="fr-LU" dirty="0"/>
              <a:t> the</a:t>
            </a:r>
            <a:r>
              <a:rPr lang="en-US" dirty="0"/>
              <a:t>y</a:t>
            </a:r>
            <a:r>
              <a:rPr lang="fr-LU" dirty="0"/>
              <a:t> </a:t>
            </a:r>
            <a:r>
              <a:rPr lang="fr-LU" dirty="0" err="1"/>
              <a:t>will</a:t>
            </a:r>
            <a:r>
              <a:rPr lang="fr-LU" dirty="0"/>
              <a:t> mention </a:t>
            </a:r>
            <a:r>
              <a:rPr lang="fr-LU" dirty="0" err="1"/>
              <a:t>game</a:t>
            </a:r>
            <a:r>
              <a:rPr lang="fr-LU" dirty="0"/>
              <a:t> AI, and I </a:t>
            </a:r>
            <a:r>
              <a:rPr lang="fr-LU" dirty="0" err="1"/>
              <a:t>will</a:t>
            </a:r>
            <a:r>
              <a:rPr lang="fr-LU" dirty="0"/>
              <a:t> </a:t>
            </a:r>
            <a:r>
              <a:rPr lang="fr-LU" dirty="0" err="1"/>
              <a:t>get</a:t>
            </a:r>
            <a:r>
              <a:rPr lang="fr-LU" dirty="0"/>
              <a:t> </a:t>
            </a:r>
            <a:r>
              <a:rPr lang="fr-LU" dirty="0" err="1"/>
              <a:t>sidetracked</a:t>
            </a:r>
            <a:r>
              <a:rPr lang="fr-LU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6EA703-262B-4D80-ACF3-A6527822D48E}" type="slidenum">
              <a:rPr lang="fr-LU" smtClean="0"/>
              <a:t>2</a:t>
            </a:fld>
            <a:endParaRPr lang="fr-LU"/>
          </a:p>
        </p:txBody>
      </p:sp>
    </p:spTree>
    <p:extLst>
      <p:ext uri="{BB962C8B-B14F-4D97-AF65-F5344CB8AC3E}">
        <p14:creationId xmlns:p14="http://schemas.microsoft.com/office/powerpoint/2010/main" val="42565791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1577A-82BE-9FD9-8589-79AE4D0965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L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7353AC-5C59-7A15-46F3-E415B84515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L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E85526-7A77-218A-37A0-1CA893352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5BC71-D8A6-47C5-B5E4-CDD8DD3F9982}" type="datetimeFigureOut">
              <a:rPr lang="fr-LU" smtClean="0"/>
              <a:t>22/03/2026</a:t>
            </a:fld>
            <a:endParaRPr lang="fr-L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ECE201-5262-0944-7884-24BABA46F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L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113F15-F557-3B91-0A8B-AF8212353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5DABE-09CC-487D-94A4-8C529631244D}" type="slidenum">
              <a:rPr lang="fr-LU" smtClean="0"/>
              <a:t>‹#›</a:t>
            </a:fld>
            <a:endParaRPr lang="fr-LU"/>
          </a:p>
        </p:txBody>
      </p:sp>
    </p:spTree>
    <p:extLst>
      <p:ext uri="{BB962C8B-B14F-4D97-AF65-F5344CB8AC3E}">
        <p14:creationId xmlns:p14="http://schemas.microsoft.com/office/powerpoint/2010/main" val="2573704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CC80C-CCA0-767A-FBBB-721EA8094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L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8FB4DC-D1C7-CF7D-F321-C68DAC7BD0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L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2072EC-3F24-2D60-E90D-B7B47FCBC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5BC71-D8A6-47C5-B5E4-CDD8DD3F9982}" type="datetimeFigureOut">
              <a:rPr lang="fr-LU" smtClean="0"/>
              <a:t>22/03/2026</a:t>
            </a:fld>
            <a:endParaRPr lang="fr-L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214284-C76B-4D57-D528-16DA2A779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L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0FC35A-863C-A1FC-073E-27E6E4136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5DABE-09CC-487D-94A4-8C529631244D}" type="slidenum">
              <a:rPr lang="fr-LU" smtClean="0"/>
              <a:t>‹#›</a:t>
            </a:fld>
            <a:endParaRPr lang="fr-LU"/>
          </a:p>
        </p:txBody>
      </p:sp>
    </p:spTree>
    <p:extLst>
      <p:ext uri="{BB962C8B-B14F-4D97-AF65-F5344CB8AC3E}">
        <p14:creationId xmlns:p14="http://schemas.microsoft.com/office/powerpoint/2010/main" val="2643693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D43CE-F975-6FBC-AF62-9BCAFEA4D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L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5F802-EDFC-C45E-5628-A30F98A3D3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FD343A-563D-6B4D-2D92-78FCDEB62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5BC71-D8A6-47C5-B5E4-CDD8DD3F9982}" type="datetimeFigureOut">
              <a:rPr lang="fr-LU" smtClean="0"/>
              <a:t>22/03/2026</a:t>
            </a:fld>
            <a:endParaRPr lang="fr-L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C89E8C-C441-C068-67C5-52A75BF84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L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AFC21E-A5A0-EA6F-69B1-C5D131A3D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5DABE-09CC-487D-94A4-8C529631244D}" type="slidenum">
              <a:rPr lang="fr-LU" smtClean="0"/>
              <a:t>‹#›</a:t>
            </a:fld>
            <a:endParaRPr lang="fr-LU"/>
          </a:p>
        </p:txBody>
      </p:sp>
    </p:spTree>
    <p:extLst>
      <p:ext uri="{BB962C8B-B14F-4D97-AF65-F5344CB8AC3E}">
        <p14:creationId xmlns:p14="http://schemas.microsoft.com/office/powerpoint/2010/main" val="1752954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D3AE-27BD-EA60-19B2-C65AFEC54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L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5809CB-4409-A0CE-6F77-18D584E1A7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L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CF455D-ABE1-2E6D-1D5F-5B8ECBC078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L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511F63-0CFC-A2B1-6DB5-3D3837686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5BC71-D8A6-47C5-B5E4-CDD8DD3F9982}" type="datetimeFigureOut">
              <a:rPr lang="fr-LU" smtClean="0"/>
              <a:t>22/03/2026</a:t>
            </a:fld>
            <a:endParaRPr lang="fr-L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640DF7-7B2B-A202-B428-9271586DF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L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6E4939-1FC5-B3D6-9C43-B83D0A01B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5DABE-09CC-487D-94A4-8C529631244D}" type="slidenum">
              <a:rPr lang="fr-LU" smtClean="0"/>
              <a:t>‹#›</a:t>
            </a:fld>
            <a:endParaRPr lang="fr-LU"/>
          </a:p>
        </p:txBody>
      </p:sp>
    </p:spTree>
    <p:extLst>
      <p:ext uri="{BB962C8B-B14F-4D97-AF65-F5344CB8AC3E}">
        <p14:creationId xmlns:p14="http://schemas.microsoft.com/office/powerpoint/2010/main" val="35629264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256BF-0521-106C-6693-D264CA80F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L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F78D38-273F-BDE2-1156-CFB8AF40C8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01BB15-C193-8412-F56B-E75A5BB198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L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8FE194-E349-D028-17EC-2582C76DBB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F8B79B-FBE2-7DBF-6F9E-0808817697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L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9CDB58-09C4-B6E3-43AC-3F5BED01C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5BC71-D8A6-47C5-B5E4-CDD8DD3F9982}" type="datetimeFigureOut">
              <a:rPr lang="fr-LU" smtClean="0"/>
              <a:t>22/03/2026</a:t>
            </a:fld>
            <a:endParaRPr lang="fr-L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B336A3-B621-9B1D-C2BD-A77CA2D19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L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AC9303-C074-BDC7-394F-BCBA6601D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5DABE-09CC-487D-94A4-8C529631244D}" type="slidenum">
              <a:rPr lang="fr-LU" smtClean="0"/>
              <a:t>‹#›</a:t>
            </a:fld>
            <a:endParaRPr lang="fr-LU"/>
          </a:p>
        </p:txBody>
      </p:sp>
    </p:spTree>
    <p:extLst>
      <p:ext uri="{BB962C8B-B14F-4D97-AF65-F5344CB8AC3E}">
        <p14:creationId xmlns:p14="http://schemas.microsoft.com/office/powerpoint/2010/main" val="6129924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A3994-13F0-4DFF-A64F-D1FDA8502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L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04CD4F-5A38-3905-FD5D-5CA42AEAA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5BC71-D8A6-47C5-B5E4-CDD8DD3F9982}" type="datetimeFigureOut">
              <a:rPr lang="fr-LU" smtClean="0"/>
              <a:t>22/03/2026</a:t>
            </a:fld>
            <a:endParaRPr lang="fr-L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8050B9-3036-9B14-5577-778EB3C7C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L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3574D6-809D-FAC3-99E1-06C7940F4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5DABE-09CC-487D-94A4-8C529631244D}" type="slidenum">
              <a:rPr lang="fr-LU" smtClean="0"/>
              <a:t>‹#›</a:t>
            </a:fld>
            <a:endParaRPr lang="fr-LU"/>
          </a:p>
        </p:txBody>
      </p:sp>
    </p:spTree>
    <p:extLst>
      <p:ext uri="{BB962C8B-B14F-4D97-AF65-F5344CB8AC3E}">
        <p14:creationId xmlns:p14="http://schemas.microsoft.com/office/powerpoint/2010/main" val="42252130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F6B0A1-5458-F1E7-D270-A1FA1A29F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5BC71-D8A6-47C5-B5E4-CDD8DD3F9982}" type="datetimeFigureOut">
              <a:rPr lang="fr-LU" smtClean="0"/>
              <a:t>22/03/2026</a:t>
            </a:fld>
            <a:endParaRPr lang="fr-L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D4908B-4E55-3BF9-4B3D-2BFD2D9C7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L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59DBD2-4EF0-97D7-F65D-27132634D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5DABE-09CC-487D-94A4-8C529631244D}" type="slidenum">
              <a:rPr lang="fr-LU" smtClean="0"/>
              <a:t>‹#›</a:t>
            </a:fld>
            <a:endParaRPr lang="fr-LU"/>
          </a:p>
        </p:txBody>
      </p:sp>
    </p:spTree>
    <p:extLst>
      <p:ext uri="{BB962C8B-B14F-4D97-AF65-F5344CB8AC3E}">
        <p14:creationId xmlns:p14="http://schemas.microsoft.com/office/powerpoint/2010/main" val="2161785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39F2F-568A-0F69-A72B-0DEC63C02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L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3CF88C-808E-2A9A-C594-31BF94358A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L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73FDEC-CD1F-9B8E-2050-F281C37732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1A024C-E7EB-2B01-207D-34AD069BF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5BC71-D8A6-47C5-B5E4-CDD8DD3F9982}" type="datetimeFigureOut">
              <a:rPr lang="fr-LU" smtClean="0"/>
              <a:t>22/03/2026</a:t>
            </a:fld>
            <a:endParaRPr lang="fr-L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D85177-75D4-25BF-E4C2-645C441EB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L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004C6D-8F22-9364-20E1-BE72B5C8C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5DABE-09CC-487D-94A4-8C529631244D}" type="slidenum">
              <a:rPr lang="fr-LU" smtClean="0"/>
              <a:t>‹#›</a:t>
            </a:fld>
            <a:endParaRPr lang="fr-LU"/>
          </a:p>
        </p:txBody>
      </p:sp>
    </p:spTree>
    <p:extLst>
      <p:ext uri="{BB962C8B-B14F-4D97-AF65-F5344CB8AC3E}">
        <p14:creationId xmlns:p14="http://schemas.microsoft.com/office/powerpoint/2010/main" val="380345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0140A-65CC-05AE-71BB-EE6B25DE7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L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C0BA7D-0A06-2ECC-65E7-493F04CEB7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L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4CDA04-CF6A-4DE5-C686-637AC62CA9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17451B-96A3-260E-0DCB-96E7B930C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5BC71-D8A6-47C5-B5E4-CDD8DD3F9982}" type="datetimeFigureOut">
              <a:rPr lang="fr-LU" smtClean="0"/>
              <a:t>22/03/2026</a:t>
            </a:fld>
            <a:endParaRPr lang="fr-L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90A85C-6B66-4957-CD9D-C669AF4E3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L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64F833-13AD-6BFD-F272-EB6FA4F53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5DABE-09CC-487D-94A4-8C529631244D}" type="slidenum">
              <a:rPr lang="fr-LU" smtClean="0"/>
              <a:t>‹#›</a:t>
            </a:fld>
            <a:endParaRPr lang="fr-LU"/>
          </a:p>
        </p:txBody>
      </p:sp>
    </p:spTree>
    <p:extLst>
      <p:ext uri="{BB962C8B-B14F-4D97-AF65-F5344CB8AC3E}">
        <p14:creationId xmlns:p14="http://schemas.microsoft.com/office/powerpoint/2010/main" val="9180495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44AA5-BC44-BBE0-8B4D-A5AD91A4D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L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0F383E-8372-A83F-1547-F03DB4E537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L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EF6559-B1CB-D81B-FA78-BD94EE677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5BC71-D8A6-47C5-B5E4-CDD8DD3F9982}" type="datetimeFigureOut">
              <a:rPr lang="fr-LU" smtClean="0"/>
              <a:t>22/03/2026</a:t>
            </a:fld>
            <a:endParaRPr lang="fr-L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5F5CAF-0F09-0ECB-EDC3-1B2571C9F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L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0DD528-ABCB-4141-99F6-2B7B077C6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5DABE-09CC-487D-94A4-8C529631244D}" type="slidenum">
              <a:rPr lang="fr-LU" smtClean="0"/>
              <a:t>‹#›</a:t>
            </a:fld>
            <a:endParaRPr lang="fr-LU"/>
          </a:p>
        </p:txBody>
      </p:sp>
    </p:spTree>
    <p:extLst>
      <p:ext uri="{BB962C8B-B14F-4D97-AF65-F5344CB8AC3E}">
        <p14:creationId xmlns:p14="http://schemas.microsoft.com/office/powerpoint/2010/main" val="2529432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2052B2-84E4-2A02-B3D8-4973EF177E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L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263325-A688-FCFC-4CE4-C25D85908A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L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FC2E01-4519-DA0A-756B-76FFB76BA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5BC71-D8A6-47C5-B5E4-CDD8DD3F9982}" type="datetimeFigureOut">
              <a:rPr lang="fr-LU" smtClean="0"/>
              <a:t>22/03/2026</a:t>
            </a:fld>
            <a:endParaRPr lang="fr-L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394228-F61F-4C8E-10E0-707F59167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L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14FAF5-38DA-CFD4-F0B5-B8843E276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5DABE-09CC-487D-94A4-8C529631244D}" type="slidenum">
              <a:rPr lang="fr-LU" smtClean="0"/>
              <a:t>‹#›</a:t>
            </a:fld>
            <a:endParaRPr lang="fr-LU"/>
          </a:p>
        </p:txBody>
      </p:sp>
    </p:spTree>
    <p:extLst>
      <p:ext uri="{BB962C8B-B14F-4D97-AF65-F5344CB8AC3E}">
        <p14:creationId xmlns:p14="http://schemas.microsoft.com/office/powerpoint/2010/main" val="33575244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416741-007D-3648-33D3-4D84BA0C9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L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55D620-45CE-46F0-5B66-6B4879A158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L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178AD6-B458-641B-1664-5F5AA4321A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75BC71-D8A6-47C5-B5E4-CDD8DD3F9982}" type="datetimeFigureOut">
              <a:rPr lang="fr-LU" smtClean="0"/>
              <a:t>22/03/2026</a:t>
            </a:fld>
            <a:endParaRPr lang="fr-L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D0AA94-C9F4-7F91-CA3D-4DB850FEA9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L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3FE783-DCD8-AD19-10E8-E031226F9D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D5DABE-09CC-487D-94A4-8C529631244D}" type="slidenum">
              <a:rPr lang="fr-LU" smtClean="0"/>
              <a:t>‹#›</a:t>
            </a:fld>
            <a:endParaRPr lang="fr-LU"/>
          </a:p>
        </p:txBody>
      </p:sp>
    </p:spTree>
    <p:extLst>
      <p:ext uri="{BB962C8B-B14F-4D97-AF65-F5344CB8AC3E}">
        <p14:creationId xmlns:p14="http://schemas.microsoft.com/office/powerpoint/2010/main" val="12235178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7FEA5-2FED-7523-4C17-5E30D5226C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Learning from Examples</a:t>
            </a:r>
            <a:endParaRPr lang="fr-L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025910-A196-5306-6FB9-6DCDC84F07B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Basic principle of AI</a:t>
            </a:r>
            <a:endParaRPr lang="fr-LU" dirty="0"/>
          </a:p>
        </p:txBody>
      </p:sp>
    </p:spTree>
    <p:extLst>
      <p:ext uri="{BB962C8B-B14F-4D97-AF65-F5344CB8AC3E}">
        <p14:creationId xmlns:p14="http://schemas.microsoft.com/office/powerpoint/2010/main" val="2724767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83C32-6A8D-6D19-1FB7-649B9A240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Artificial Intelligence – Everywhere Today</a:t>
            </a:r>
            <a:endParaRPr lang="fr-L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195551-1AC3-1942-BA0E-F49A70C942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3446"/>
            <a:ext cx="10515600" cy="495849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Face recognition</a:t>
            </a:r>
          </a:p>
          <a:p>
            <a:r>
              <a:rPr lang="en-US" dirty="0"/>
              <a:t>Audio, video, and image generation</a:t>
            </a:r>
          </a:p>
          <a:p>
            <a:r>
              <a:rPr lang="en-US" dirty="0"/>
              <a:t>Translation</a:t>
            </a:r>
          </a:p>
          <a:p>
            <a:r>
              <a:rPr lang="en-US" dirty="0"/>
              <a:t>Keyboard autocomplete</a:t>
            </a:r>
          </a:p>
          <a:p>
            <a:r>
              <a:rPr lang="en-US" dirty="0"/>
              <a:t>Chatbots, coding assistants</a:t>
            </a:r>
          </a:p>
          <a:p>
            <a:r>
              <a:rPr lang="en-US" dirty="0"/>
              <a:t>Image filters (Snapchat / IG)</a:t>
            </a:r>
          </a:p>
          <a:p>
            <a:r>
              <a:rPr lang="en-US" dirty="0"/>
              <a:t>Recommender systems (music, films, etc.)</a:t>
            </a:r>
          </a:p>
          <a:p>
            <a:r>
              <a:rPr lang="en-US" dirty="0"/>
              <a:t>Spam filters</a:t>
            </a:r>
          </a:p>
          <a:p>
            <a:r>
              <a:rPr lang="en-US" dirty="0"/>
              <a:t>Autonomous driving</a:t>
            </a:r>
          </a:p>
          <a:p>
            <a:pPr marL="0" indent="0">
              <a:buNone/>
            </a:pPr>
            <a:r>
              <a:rPr lang="en-US" dirty="0"/>
              <a:t>and many more</a:t>
            </a:r>
          </a:p>
          <a:p>
            <a:endParaRPr lang="en-US" dirty="0"/>
          </a:p>
          <a:p>
            <a:endParaRPr lang="fr-L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C5F3D1-F831-FF95-2E5C-EDF3CD3A93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0498" y="1423446"/>
            <a:ext cx="1809750" cy="13620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5412E30-4FE6-F41D-D550-CB98927351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2066" y="1444084"/>
            <a:ext cx="1952625" cy="13049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3CFD95D-0ABC-15DC-D538-9A8D6DDB7A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2846" y="2894506"/>
            <a:ext cx="1762125" cy="13049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992024D-274A-3475-973F-748E8EA758A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55967" y="2846882"/>
            <a:ext cx="1638300" cy="140017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3424EF2-99C6-FF2C-4054-F31B7C66A66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11115" y="4344930"/>
            <a:ext cx="1914525" cy="141922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0F86FC8-F534-7EBD-857A-B52991F7302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79995" y="4464763"/>
            <a:ext cx="1647825" cy="1314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6039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DE854-B9E0-6367-0AC0-C9012F82B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Even the Illustrations</a:t>
            </a:r>
            <a:endParaRPr lang="fr-LU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CA4800C-A4B1-7EDC-4323-5FC868016F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6058" y="699155"/>
            <a:ext cx="9238268" cy="6158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68138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D090A-2C7B-FA41-CA3D-84A64A5C7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Machine Learning</a:t>
            </a:r>
            <a:endParaRPr lang="fr-L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EB7E4F-1904-DF97-5DE6-E87F39BB12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/>
          <a:lstStyle/>
          <a:p>
            <a:r>
              <a:rPr lang="en-US" dirty="0"/>
              <a:t>How do AI applications work?</a:t>
            </a:r>
          </a:p>
          <a:p>
            <a:r>
              <a:rPr lang="en-US" dirty="0"/>
              <a:t>What separates AI apps from other apps?</a:t>
            </a:r>
          </a:p>
          <a:p>
            <a:r>
              <a:rPr lang="en-US" b="1" dirty="0"/>
              <a:t>Machine learning is a major part of AI field</a:t>
            </a:r>
          </a:p>
          <a:p>
            <a:r>
              <a:rPr lang="en-US" dirty="0"/>
              <a:t>Those apps were not merely programmed</a:t>
            </a:r>
          </a:p>
          <a:p>
            <a:r>
              <a:rPr lang="en-US" dirty="0"/>
              <a:t>At the core they were trained</a:t>
            </a:r>
          </a:p>
          <a:p>
            <a:r>
              <a:rPr lang="en-US" dirty="0"/>
              <a:t>But why did we have to train them?</a:t>
            </a:r>
          </a:p>
          <a:p>
            <a:r>
              <a:rPr lang="en-US" dirty="0"/>
              <a:t>And how did we do that?</a:t>
            </a:r>
          </a:p>
        </p:txBody>
      </p:sp>
    </p:spTree>
    <p:extLst>
      <p:ext uri="{BB962C8B-B14F-4D97-AF65-F5344CB8AC3E}">
        <p14:creationId xmlns:p14="http://schemas.microsoft.com/office/powerpoint/2010/main" val="3797241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69744-FDFE-903E-E31C-2EB797244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Memorize All Combinations?</a:t>
            </a:r>
            <a:endParaRPr lang="fr-L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422BDD-4D0C-B7BC-B84F-43CE16B776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5591"/>
            <a:ext cx="10515600" cy="490193"/>
          </a:xfrm>
        </p:spPr>
        <p:txBody>
          <a:bodyPr/>
          <a:lstStyle/>
          <a:p>
            <a:r>
              <a:rPr lang="en-US" dirty="0"/>
              <a:t>Find a value for each combination of pixels?</a:t>
            </a:r>
            <a:endParaRPr lang="fr-LU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BCF59C0-50D8-3DE3-8921-E621954A25F2}"/>
              </a:ext>
            </a:extLst>
          </p:cNvPr>
          <p:cNvSpPr txBox="1">
            <a:spLocks/>
          </p:cNvSpPr>
          <p:nvPr/>
        </p:nvSpPr>
        <p:spPr>
          <a:xfrm>
            <a:off x="838200" y="5090474"/>
            <a:ext cx="10515600" cy="11877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250x250, 3 bytes per pixel = ~10^56443 combinations</a:t>
            </a:r>
          </a:p>
          <a:p>
            <a:r>
              <a:rPr lang="fr-LU" dirty="0"/>
              <a:t>For </a:t>
            </a:r>
            <a:r>
              <a:rPr lang="fr-LU" dirty="0" err="1"/>
              <a:t>comparison</a:t>
            </a:r>
            <a:r>
              <a:rPr lang="fr-LU" dirty="0"/>
              <a:t>: </a:t>
            </a:r>
            <a:r>
              <a:rPr lang="fr-LU" dirty="0" err="1"/>
              <a:t>there</a:t>
            </a:r>
            <a:r>
              <a:rPr lang="fr-LU" dirty="0"/>
              <a:t> are ~10^82 </a:t>
            </a:r>
            <a:r>
              <a:rPr lang="fr-LU" dirty="0" err="1"/>
              <a:t>atoms</a:t>
            </a:r>
            <a:r>
              <a:rPr lang="fr-LU" dirty="0"/>
              <a:t> in the observable </a:t>
            </a:r>
            <a:r>
              <a:rPr lang="fr-LU" dirty="0" err="1"/>
              <a:t>universe</a:t>
            </a:r>
            <a:endParaRPr lang="fr-LU" dirty="0"/>
          </a:p>
        </p:txBody>
      </p:sp>
      <p:pic>
        <p:nvPicPr>
          <p:cNvPr id="5" name="Picture 4" descr="Refer to caption">
            <a:extLst>
              <a:ext uri="{FF2B5EF4-FFF2-40B4-BE49-F238E27FC236}">
                <a16:creationId xmlns:a16="http://schemas.microsoft.com/office/drawing/2014/main" id="{174B19A0-4CAC-1481-F99C-0EBE5272FE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5747" y="1935784"/>
            <a:ext cx="4449453" cy="2932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4914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2F7DC-8FBD-F234-4A5B-BF667FE56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Define some rules?</a:t>
            </a:r>
            <a:endParaRPr lang="fr-L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6D0DF5-C67F-1170-3E8B-8265D7E593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70202"/>
            <a:ext cx="10515600" cy="4326903"/>
          </a:xfrm>
        </p:spPr>
        <p:txBody>
          <a:bodyPr>
            <a:normAutofit/>
          </a:bodyPr>
          <a:lstStyle/>
          <a:p>
            <a:r>
              <a:rPr lang="fr-LU" sz="3100" dirty="0"/>
              <a:t>«If the </a:t>
            </a:r>
            <a:r>
              <a:rPr lang="fr-LU" sz="3100" dirty="0" err="1"/>
              <a:t>eye</a:t>
            </a:r>
            <a:r>
              <a:rPr lang="fr-LU" sz="3100" dirty="0"/>
              <a:t> </a:t>
            </a:r>
            <a:r>
              <a:rPr lang="fr-LU" sz="3100" dirty="0" err="1"/>
              <a:t>color</a:t>
            </a:r>
            <a:r>
              <a:rPr lang="fr-LU" sz="3100" dirty="0"/>
              <a:t> </a:t>
            </a:r>
            <a:r>
              <a:rPr lang="fr-LU" sz="3100" dirty="0" err="1"/>
              <a:t>is</a:t>
            </a:r>
            <a:r>
              <a:rPr lang="fr-LU" sz="3100" dirty="0"/>
              <a:t> </a:t>
            </a:r>
            <a:r>
              <a:rPr lang="fr-LU" sz="3100" dirty="0" err="1"/>
              <a:t>different</a:t>
            </a:r>
            <a:r>
              <a:rPr lang="fr-LU" sz="3100" dirty="0"/>
              <a:t>, </a:t>
            </a:r>
            <a:r>
              <a:rPr lang="fr-LU" sz="3100" dirty="0" err="1"/>
              <a:t>then</a:t>
            </a:r>
            <a:r>
              <a:rPr lang="fr-LU" sz="3100" dirty="0"/>
              <a:t> </a:t>
            </a:r>
            <a:r>
              <a:rPr lang="fr-LU" sz="3100" dirty="0" err="1"/>
              <a:t>those</a:t>
            </a:r>
            <a:r>
              <a:rPr lang="fr-LU" sz="3100" dirty="0"/>
              <a:t> are </a:t>
            </a:r>
            <a:r>
              <a:rPr lang="fr-LU" sz="3100" dirty="0" err="1"/>
              <a:t>different</a:t>
            </a:r>
            <a:r>
              <a:rPr lang="fr-LU" sz="3100" dirty="0"/>
              <a:t> people on the photos»</a:t>
            </a:r>
          </a:p>
          <a:p>
            <a:pPr lvl="1"/>
            <a:r>
              <a:rPr lang="fr-LU" sz="2700" dirty="0"/>
              <a:t>But how to tell computer how to </a:t>
            </a:r>
            <a:r>
              <a:rPr lang="fr-LU" sz="2700" dirty="0" err="1"/>
              <a:t>detect</a:t>
            </a:r>
            <a:r>
              <a:rPr lang="fr-LU" sz="2700" dirty="0"/>
              <a:t> </a:t>
            </a:r>
            <a:r>
              <a:rPr lang="fr-LU" sz="2700" dirty="0" err="1"/>
              <a:t>eye</a:t>
            </a:r>
            <a:r>
              <a:rPr lang="fr-LU" sz="2700" dirty="0"/>
              <a:t> </a:t>
            </a:r>
            <a:r>
              <a:rPr lang="fr-LU" sz="2700" dirty="0" err="1"/>
              <a:t>color</a:t>
            </a:r>
            <a:r>
              <a:rPr lang="fr-LU" sz="2700" dirty="0"/>
              <a:t> on the image?</a:t>
            </a:r>
          </a:p>
          <a:p>
            <a:r>
              <a:rPr lang="en-US" sz="2900" dirty="0"/>
              <a:t>And how to do it for all possible applications?</a:t>
            </a:r>
          </a:p>
          <a:p>
            <a:r>
              <a:rPr lang="en-US" sz="2900" dirty="0"/>
              <a:t>And how to program all those rules?</a:t>
            </a:r>
          </a:p>
          <a:p>
            <a:r>
              <a:rPr lang="fr-LU" sz="2900" dirty="0"/>
              <a:t>And </a:t>
            </a:r>
            <a:r>
              <a:rPr lang="fr-LU" sz="2900" dirty="0" err="1"/>
              <a:t>what</a:t>
            </a:r>
            <a:r>
              <a:rPr lang="fr-LU" sz="2900" dirty="0"/>
              <a:t> about audio? </a:t>
            </a:r>
            <a:r>
              <a:rPr lang="fr-LU" sz="2900" dirty="0" err="1"/>
              <a:t>Video</a:t>
            </a:r>
            <a:r>
              <a:rPr lang="fr-LU" sz="29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7475183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E1FE-F94E-DC67-0ADC-A9D6B7653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 More Problem: Perception Difference</a:t>
            </a:r>
            <a:endParaRPr lang="fr-L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8C3AA-74B2-448B-8217-5B4212C1B4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0581"/>
            <a:ext cx="10515600" cy="480767"/>
          </a:xfrm>
        </p:spPr>
        <p:txBody>
          <a:bodyPr/>
          <a:lstStyle/>
          <a:p>
            <a:r>
              <a:rPr lang="fr-LU" dirty="0" err="1"/>
              <a:t>What</a:t>
            </a:r>
            <a:r>
              <a:rPr lang="fr-LU" dirty="0"/>
              <a:t> </a:t>
            </a:r>
            <a:r>
              <a:rPr lang="fr-LU" dirty="0" err="1"/>
              <a:t>we</a:t>
            </a:r>
            <a:r>
              <a:rPr lang="fr-LU" dirty="0"/>
              <a:t> </a:t>
            </a:r>
            <a:r>
              <a:rPr lang="fr-LU" dirty="0" err="1"/>
              <a:t>see</a:t>
            </a:r>
            <a:endParaRPr lang="fr-L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76D6D4-899F-B299-3843-CFAA46732A07}"/>
              </a:ext>
            </a:extLst>
          </p:cNvPr>
          <p:cNvSpPr txBox="1"/>
          <p:nvPr/>
        </p:nvSpPr>
        <p:spPr>
          <a:xfrm>
            <a:off x="999241" y="6123543"/>
            <a:ext cx="43650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LU" dirty="0"/>
              <a:t>https://ar5iv.labs.arxiv.org/html/1801.05678</a:t>
            </a:r>
          </a:p>
        </p:txBody>
      </p:sp>
      <p:pic>
        <p:nvPicPr>
          <p:cNvPr id="1028" name="Picture 4" descr="Refer to caption">
            <a:extLst>
              <a:ext uri="{FF2B5EF4-FFF2-40B4-BE49-F238E27FC236}">
                <a16:creationId xmlns:a16="http://schemas.microsoft.com/office/drawing/2014/main" id="{1DD191D3-CB1E-62DD-7B4F-9AB5651BE2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9884" y="2065384"/>
            <a:ext cx="5976593" cy="3939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21875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D0E41-76FB-2090-2CC7-9A4975C81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 More Problem: Perception Difference</a:t>
            </a:r>
            <a:endParaRPr lang="fr-L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E0800A-24FE-43C6-2102-98F01C9AFD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3968"/>
            <a:ext cx="10515600" cy="549929"/>
          </a:xfrm>
        </p:spPr>
        <p:txBody>
          <a:bodyPr/>
          <a:lstStyle/>
          <a:p>
            <a:r>
              <a:rPr lang="fr-LU" dirty="0" err="1"/>
              <a:t>What</a:t>
            </a:r>
            <a:r>
              <a:rPr lang="fr-LU" dirty="0"/>
              <a:t> computer </a:t>
            </a:r>
            <a:r>
              <a:rPr lang="fr-LU" dirty="0" err="1"/>
              <a:t>sees</a:t>
            </a:r>
            <a:endParaRPr lang="fr-LU" dirty="0"/>
          </a:p>
          <a:p>
            <a:pPr marL="0" indent="0">
              <a:buNone/>
            </a:pPr>
            <a:endParaRPr lang="fr-L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07F6B3-4880-096D-C339-E870F72084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8042" y="2073897"/>
            <a:ext cx="4355183" cy="4406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2194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56763-026E-F6AB-A0A8-94628B47D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 – Learn from Examples</a:t>
            </a:r>
            <a:endParaRPr lang="fr-L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8EC7C1-1B03-AE2A-692C-6C292F41F8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can’t provide full set of rules of “how to get to the correct answer”</a:t>
            </a:r>
          </a:p>
          <a:p>
            <a:r>
              <a:rPr lang="en-US" dirty="0"/>
              <a:t>But often we can provide a lot of examples</a:t>
            </a:r>
          </a:p>
          <a:p>
            <a:pPr lvl="1"/>
            <a:r>
              <a:rPr lang="en-US" dirty="0"/>
              <a:t>What we start with</a:t>
            </a:r>
          </a:p>
          <a:p>
            <a:pPr lvl="1"/>
            <a:r>
              <a:rPr lang="en-US" dirty="0"/>
              <a:t>“Correct answer” that we expect</a:t>
            </a:r>
          </a:p>
          <a:p>
            <a:r>
              <a:rPr lang="en-US" dirty="0"/>
              <a:t>… and then just say </a:t>
            </a:r>
            <a:r>
              <a:rPr lang="en-US" b="1" dirty="0"/>
              <a:t>“figure it out on your own”</a:t>
            </a:r>
          </a:p>
          <a:p>
            <a:pPr lvl="1"/>
            <a:r>
              <a:rPr lang="fr-LU" dirty="0"/>
              <a:t>I.e. </a:t>
            </a:r>
            <a:r>
              <a:rPr lang="fr-LU" dirty="0" err="1"/>
              <a:t>learn</a:t>
            </a:r>
            <a:r>
              <a:rPr lang="fr-LU" dirty="0"/>
              <a:t> </a:t>
            </a:r>
            <a:r>
              <a:rPr lang="fr-LU" dirty="0" err="1"/>
              <a:t>from</a:t>
            </a:r>
            <a:r>
              <a:rPr lang="fr-LU" dirty="0"/>
              <a:t> </a:t>
            </a:r>
            <a:r>
              <a:rPr lang="fr-LU" dirty="0" err="1"/>
              <a:t>those</a:t>
            </a:r>
            <a:r>
              <a:rPr lang="fr-LU" dirty="0"/>
              <a:t> </a:t>
            </a:r>
            <a:r>
              <a:rPr lang="fr-LU" dirty="0" err="1"/>
              <a:t>examples</a:t>
            </a:r>
            <a:endParaRPr lang="fr-LU" dirty="0"/>
          </a:p>
        </p:txBody>
      </p:sp>
    </p:spTree>
    <p:extLst>
      <p:ext uri="{BB962C8B-B14F-4D97-AF65-F5344CB8AC3E}">
        <p14:creationId xmlns:p14="http://schemas.microsoft.com/office/powerpoint/2010/main" val="14421474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325BC-7F6A-D936-1DB0-8C8C850FF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– Face Detection</a:t>
            </a:r>
            <a:endParaRPr lang="fr-LU" dirty="0"/>
          </a:p>
        </p:txBody>
      </p:sp>
      <p:pic>
        <p:nvPicPr>
          <p:cNvPr id="2050" name="Picture 2" descr="Face Detection - Face Recognition Dataset">
            <a:extLst>
              <a:ext uri="{FF2B5EF4-FFF2-40B4-BE49-F238E27FC236}">
                <a16:creationId xmlns:a16="http://schemas.microsoft.com/office/drawing/2014/main" id="{5856537B-4422-2BDA-122B-7E626D87E4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5369" y="1464444"/>
            <a:ext cx="4413414" cy="4714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8150B2D-A230-74C0-9DA9-729673D6086A}"/>
              </a:ext>
            </a:extLst>
          </p:cNvPr>
          <p:cNvSpPr txBox="1"/>
          <p:nvPr/>
        </p:nvSpPr>
        <p:spPr>
          <a:xfrm>
            <a:off x="838200" y="6308209"/>
            <a:ext cx="8134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LU" dirty="0"/>
              <a:t>https://www.kaggle.com/datasets/trainingdatapro/face-detection-photos-and-labels</a:t>
            </a:r>
          </a:p>
        </p:txBody>
      </p:sp>
    </p:spTree>
    <p:extLst>
      <p:ext uri="{BB962C8B-B14F-4D97-AF65-F5344CB8AC3E}">
        <p14:creationId xmlns:p14="http://schemas.microsoft.com/office/powerpoint/2010/main" val="1880969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CF10C-3E9A-80F5-5A23-FEA6667AA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– Object Detection</a:t>
            </a:r>
            <a:endParaRPr lang="fr-LU" dirty="0"/>
          </a:p>
        </p:txBody>
      </p:sp>
      <p:pic>
        <p:nvPicPr>
          <p:cNvPr id="3074" name="Picture 2" descr="The Complete Guide to Object Detection: An Introduction to Detection in  2024 — visionplatform">
            <a:extLst>
              <a:ext uri="{FF2B5EF4-FFF2-40B4-BE49-F238E27FC236}">
                <a16:creationId xmlns:a16="http://schemas.microsoft.com/office/drawing/2014/main" id="{112353A7-8BAC-A0BA-0E76-836DE0D0EE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1031" y="1494572"/>
            <a:ext cx="6938128" cy="46625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76E42DB-200F-D4C6-F8AC-6716C2504D7D}"/>
              </a:ext>
            </a:extLst>
          </p:cNvPr>
          <p:cNvSpPr txBox="1"/>
          <p:nvPr/>
        </p:nvSpPr>
        <p:spPr>
          <a:xfrm>
            <a:off x="3873631" y="6308209"/>
            <a:ext cx="42158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LU" dirty="0"/>
              <a:t>https://visionplatform.ai/object-detection/</a:t>
            </a:r>
          </a:p>
        </p:txBody>
      </p:sp>
    </p:spTree>
    <p:extLst>
      <p:ext uri="{BB962C8B-B14F-4D97-AF65-F5344CB8AC3E}">
        <p14:creationId xmlns:p14="http://schemas.microsoft.com/office/powerpoint/2010/main" val="21728103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4FCEC9-EFA1-FF5A-5B01-DD2F67F9E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100DD-444F-D102-AB55-CA9001C8A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– Face Recognition</a:t>
            </a:r>
            <a:endParaRPr lang="fr-L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130660-EB61-D099-86F0-9AFF7C5770A7}"/>
              </a:ext>
            </a:extLst>
          </p:cNvPr>
          <p:cNvSpPr txBox="1"/>
          <p:nvPr/>
        </p:nvSpPr>
        <p:spPr>
          <a:xfrm>
            <a:off x="999241" y="6123543"/>
            <a:ext cx="43650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LU" dirty="0"/>
              <a:t>https://ar5iv.labs.arxiv.org/html/1801.05678</a:t>
            </a:r>
          </a:p>
        </p:txBody>
      </p:sp>
      <p:pic>
        <p:nvPicPr>
          <p:cNvPr id="1028" name="Picture 4" descr="Refer to caption">
            <a:extLst>
              <a:ext uri="{FF2B5EF4-FFF2-40B4-BE49-F238E27FC236}">
                <a16:creationId xmlns:a16="http://schemas.microsoft.com/office/drawing/2014/main" id="{7FD86C47-302E-C7D9-ECDC-BDD680C316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545" y="1539859"/>
            <a:ext cx="6545055" cy="4314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Right Brace 21">
            <a:extLst>
              <a:ext uri="{FF2B5EF4-FFF2-40B4-BE49-F238E27FC236}">
                <a16:creationId xmlns:a16="http://schemas.microsoft.com/office/drawing/2014/main" id="{DB871042-3CA8-8543-170A-0ACB9B7B7E1E}"/>
              </a:ext>
            </a:extLst>
          </p:cNvPr>
          <p:cNvSpPr/>
          <p:nvPr/>
        </p:nvSpPr>
        <p:spPr>
          <a:xfrm>
            <a:off x="7663989" y="1539859"/>
            <a:ext cx="424209" cy="2108314"/>
          </a:xfrm>
          <a:prstGeom prst="rightBrace">
            <a:avLst>
              <a:gd name="adj1" fmla="val 8333"/>
              <a:gd name="adj2" fmla="val 50453"/>
            </a:avLst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LU"/>
          </a:p>
        </p:txBody>
      </p:sp>
      <p:sp>
        <p:nvSpPr>
          <p:cNvPr id="23" name="Right Brace 22">
            <a:extLst>
              <a:ext uri="{FF2B5EF4-FFF2-40B4-BE49-F238E27FC236}">
                <a16:creationId xmlns:a16="http://schemas.microsoft.com/office/drawing/2014/main" id="{E2A7C421-532B-B5EA-AACA-5F4E5C802E04}"/>
              </a:ext>
            </a:extLst>
          </p:cNvPr>
          <p:cNvSpPr/>
          <p:nvPr/>
        </p:nvSpPr>
        <p:spPr>
          <a:xfrm>
            <a:off x="7663988" y="3768750"/>
            <a:ext cx="424209" cy="2108314"/>
          </a:xfrm>
          <a:prstGeom prst="rightBrace">
            <a:avLst>
              <a:gd name="adj1" fmla="val 8333"/>
              <a:gd name="adj2" fmla="val 50453"/>
            </a:avLst>
          </a:prstGeom>
          <a:ln w="38100">
            <a:solidFill>
              <a:srgbClr val="FF5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LU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1939D27-A2DC-7B16-0310-D13082CFF06E}"/>
              </a:ext>
            </a:extLst>
          </p:cNvPr>
          <p:cNvSpPr txBox="1"/>
          <p:nvPr/>
        </p:nvSpPr>
        <p:spPr>
          <a:xfrm>
            <a:off x="8276734" y="2403835"/>
            <a:ext cx="12050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Same pairs</a:t>
            </a:r>
            <a:endParaRPr lang="fr-LU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41F12F1-ECB8-ADBF-E1E9-9FD739B0F7F1}"/>
              </a:ext>
            </a:extLst>
          </p:cNvPr>
          <p:cNvSpPr txBox="1"/>
          <p:nvPr/>
        </p:nvSpPr>
        <p:spPr>
          <a:xfrm>
            <a:off x="8276734" y="4638241"/>
            <a:ext cx="1522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Different pairs</a:t>
            </a:r>
            <a:endParaRPr lang="fr-LU" dirty="0"/>
          </a:p>
        </p:txBody>
      </p:sp>
    </p:spTree>
    <p:extLst>
      <p:ext uri="{BB962C8B-B14F-4D97-AF65-F5344CB8AC3E}">
        <p14:creationId xmlns:p14="http://schemas.microsoft.com/office/powerpoint/2010/main" val="15187213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A0083-053A-8613-1447-C68CA4651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- Chatbot</a:t>
            </a:r>
            <a:endParaRPr lang="fr-LU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04675A53-3B0E-45B6-DF32-C40D2E7B55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4686" y="1617628"/>
            <a:ext cx="9512236" cy="4434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9726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D9C74-C3DE-A8B0-0834-4FAEB1746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– Speech to Text</a:t>
            </a:r>
            <a:endParaRPr lang="fr-LU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70E3A01-C74F-6554-218D-CB73AFC1A3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8187" y="1813236"/>
            <a:ext cx="10025865" cy="3833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60951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1416C-C387-1D01-F268-782A6AFA0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– Image Generation</a:t>
            </a:r>
            <a:endParaRPr lang="fr-LU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5BC30C4-D9C4-98A5-8263-FCC3F06E77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8200" y="1690688"/>
            <a:ext cx="9876938" cy="4502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90926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8440F-AF2C-61A5-E64B-69D497D59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Diffusion-Generated Pictures</a:t>
            </a:r>
            <a:endParaRPr lang="fr-LU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6472013-2593-21C0-A999-0170EA83C3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7809" y="1415983"/>
            <a:ext cx="2379481" cy="237948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B31B0EA-7E61-CFBB-67F4-0B3D52AB1F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7545" y="1415985"/>
            <a:ext cx="2379481" cy="237948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C48DD53-BA3A-CB3A-B977-849277FD0D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7677" y="1415984"/>
            <a:ext cx="2379481" cy="237948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2EDB942-DE01-FDB3-B4EB-C5C5E47810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8690" y="4075685"/>
            <a:ext cx="2417190" cy="241719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6D13AAB-BF61-125E-636B-A1DEB240BA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7676" y="4075685"/>
            <a:ext cx="2417190" cy="241719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7325530-B5FF-1214-8C86-6AA60D1DA66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26663" y="4075686"/>
            <a:ext cx="2379482" cy="2379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71203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709A6-2ABB-B01E-5696-54C199F21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from Examples</a:t>
            </a:r>
            <a:endParaRPr lang="fr-L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A27F53-4678-0251-3BB2-938B918129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7142"/>
            <a:ext cx="10515600" cy="4649821"/>
          </a:xfrm>
        </p:spPr>
        <p:txBody>
          <a:bodyPr/>
          <a:lstStyle/>
          <a:p>
            <a:r>
              <a:rPr lang="en-US" sz="3200" dirty="0"/>
              <a:t>If we can make the app learn from examples, it can do A LOT of things</a:t>
            </a:r>
          </a:p>
          <a:p>
            <a:r>
              <a:rPr lang="en-US" sz="3200" dirty="0"/>
              <a:t>What </a:t>
            </a:r>
            <a:r>
              <a:rPr lang="fr-LU" sz="3200" dirty="0"/>
              <a:t>do </a:t>
            </a:r>
            <a:r>
              <a:rPr lang="en-US" sz="3200" dirty="0"/>
              <a:t>we need:</a:t>
            </a:r>
          </a:p>
          <a:p>
            <a:pPr lvl="1"/>
            <a:r>
              <a:rPr lang="en-US" sz="2700" dirty="0"/>
              <a:t>Examples to learn from</a:t>
            </a:r>
          </a:p>
          <a:p>
            <a:pPr lvl="1"/>
            <a:r>
              <a:rPr lang="en-US" sz="2700" dirty="0"/>
              <a:t>Something that learns, i.e. </a:t>
            </a:r>
            <a:r>
              <a:rPr lang="fr-LU" sz="2700" dirty="0"/>
              <a:t>the model</a:t>
            </a:r>
            <a:endParaRPr lang="en-US" sz="2700" dirty="0"/>
          </a:p>
          <a:p>
            <a:pPr lvl="1"/>
            <a:r>
              <a:rPr lang="en-US" sz="2700" dirty="0"/>
              <a:t>The learning process itself</a:t>
            </a:r>
          </a:p>
          <a:p>
            <a:r>
              <a:rPr lang="en-US" sz="3200" dirty="0"/>
              <a:t>But how to automate the learning?</a:t>
            </a:r>
          </a:p>
          <a:p>
            <a:pPr lvl="1"/>
            <a:r>
              <a:rPr lang="en-US" sz="2800" dirty="0"/>
              <a:t>And what exactly do we even mean by “learning”?</a:t>
            </a:r>
          </a:p>
          <a:p>
            <a:r>
              <a:rPr lang="en-US" sz="3200" dirty="0"/>
              <a:t>Let’s answer a few simpler questions first</a:t>
            </a:r>
          </a:p>
        </p:txBody>
      </p:sp>
    </p:spTree>
    <p:extLst>
      <p:ext uri="{BB962C8B-B14F-4D97-AF65-F5344CB8AC3E}">
        <p14:creationId xmlns:p14="http://schemas.microsoft.com/office/powerpoint/2010/main" val="13783927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51DF3-3E0F-3E34-BF6C-C3F852713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Success Metrics</a:t>
            </a:r>
            <a:endParaRPr lang="fr-LU" dirty="0"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B9382F-B9B8-DBF6-B605-4CC33127B0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691257"/>
          </a:xfrm>
        </p:spPr>
        <p:txBody>
          <a:bodyPr>
            <a:normAutofit/>
          </a:bodyPr>
          <a:lstStyle/>
          <a:p>
            <a:r>
              <a:rPr lang="en-US" dirty="0"/>
              <a:t>How to understand whether our AI is doing well or not?</a:t>
            </a:r>
          </a:p>
          <a:p>
            <a:r>
              <a:rPr lang="fr-LU" dirty="0"/>
              <a:t>How to compare </a:t>
            </a:r>
            <a:r>
              <a:rPr lang="fr-LU" dirty="0" err="1"/>
              <a:t>two</a:t>
            </a:r>
            <a:r>
              <a:rPr lang="fr-LU" dirty="0"/>
              <a:t> </a:t>
            </a:r>
            <a:r>
              <a:rPr lang="fr-LU" dirty="0" err="1"/>
              <a:t>AIs</a:t>
            </a:r>
            <a:r>
              <a:rPr lang="fr-LU" dirty="0"/>
              <a:t> </a:t>
            </a:r>
            <a:r>
              <a:rPr lang="fr-LU" dirty="0" err="1"/>
              <a:t>doing</a:t>
            </a:r>
            <a:r>
              <a:rPr lang="fr-LU" dirty="0"/>
              <a:t> the </a:t>
            </a:r>
            <a:r>
              <a:rPr lang="fr-LU" dirty="0" err="1"/>
              <a:t>same</a:t>
            </a:r>
            <a:r>
              <a:rPr lang="fr-LU" dirty="0"/>
              <a:t> </a:t>
            </a:r>
            <a:r>
              <a:rPr lang="fr-LU" dirty="0" err="1"/>
              <a:t>task</a:t>
            </a:r>
            <a:r>
              <a:rPr lang="fr-LU" dirty="0"/>
              <a:t>? </a:t>
            </a:r>
            <a:r>
              <a:rPr lang="fr-LU" dirty="0" err="1"/>
              <a:t>Which</a:t>
            </a:r>
            <a:r>
              <a:rPr lang="fr-LU" dirty="0"/>
              <a:t> one </a:t>
            </a:r>
            <a:r>
              <a:rPr lang="fr-LU" dirty="0" err="1"/>
              <a:t>is</a:t>
            </a:r>
            <a:r>
              <a:rPr lang="fr-LU" dirty="0"/>
              <a:t> </a:t>
            </a:r>
            <a:r>
              <a:rPr lang="fr-LU" dirty="0" err="1"/>
              <a:t>doing</a:t>
            </a:r>
            <a:r>
              <a:rPr lang="fr-LU" dirty="0"/>
              <a:t> </a:t>
            </a:r>
            <a:r>
              <a:rPr lang="fr-LU" dirty="0" err="1"/>
              <a:t>better</a:t>
            </a:r>
            <a:r>
              <a:rPr lang="fr-LU" dirty="0"/>
              <a:t>?</a:t>
            </a:r>
          </a:p>
          <a:p>
            <a:r>
              <a:rPr lang="fr-LU" b="1" dirty="0" err="1"/>
              <a:t>Loss</a:t>
            </a:r>
            <a:r>
              <a:rPr lang="fr-LU" b="1" dirty="0"/>
              <a:t> – how </a:t>
            </a:r>
            <a:r>
              <a:rPr lang="fr-LU" b="1" dirty="0" err="1"/>
              <a:t>wrong</a:t>
            </a:r>
            <a:r>
              <a:rPr lang="fr-LU" b="1" dirty="0"/>
              <a:t> the model </a:t>
            </a:r>
            <a:r>
              <a:rPr lang="fr-LU" b="1" dirty="0" err="1"/>
              <a:t>is</a:t>
            </a:r>
            <a:endParaRPr lang="fr-LU" b="1" dirty="0"/>
          </a:p>
          <a:p>
            <a:pPr lvl="1"/>
            <a:r>
              <a:rPr lang="fr-LU" dirty="0"/>
              <a:t>Details </a:t>
            </a:r>
            <a:r>
              <a:rPr lang="fr-LU" dirty="0" err="1"/>
              <a:t>depends</a:t>
            </a:r>
            <a:r>
              <a:rPr lang="fr-LU" dirty="0"/>
              <a:t> on </a:t>
            </a:r>
            <a:r>
              <a:rPr lang="fr-LU" dirty="0" err="1"/>
              <a:t>what</a:t>
            </a:r>
            <a:r>
              <a:rPr lang="fr-LU" dirty="0"/>
              <a:t> the model </a:t>
            </a:r>
            <a:r>
              <a:rPr lang="fr-LU" dirty="0" err="1"/>
              <a:t>does</a:t>
            </a:r>
            <a:endParaRPr lang="fr-LU" dirty="0"/>
          </a:p>
          <a:p>
            <a:pPr lvl="1"/>
            <a:r>
              <a:rPr lang="fr-LU" dirty="0" err="1"/>
              <a:t>Define</a:t>
            </a:r>
            <a:r>
              <a:rPr lang="fr-LU" dirty="0"/>
              <a:t> per </a:t>
            </a:r>
            <a:r>
              <a:rPr lang="fr-LU" dirty="0" err="1"/>
              <a:t>example</a:t>
            </a:r>
            <a:endParaRPr lang="fr-LU" dirty="0"/>
          </a:p>
          <a:p>
            <a:pPr lvl="1"/>
            <a:r>
              <a:rPr lang="fr-LU" dirty="0"/>
              <a:t>Aim to </a:t>
            </a:r>
            <a:r>
              <a:rPr lang="fr-LU" dirty="0" err="1"/>
              <a:t>minimize</a:t>
            </a:r>
            <a:r>
              <a:rPr lang="fr-LU" dirty="0"/>
              <a:t> the </a:t>
            </a:r>
            <a:r>
              <a:rPr lang="fr-LU" dirty="0" err="1"/>
              <a:t>average</a:t>
            </a:r>
            <a:r>
              <a:rPr lang="fr-LU" dirty="0"/>
              <a:t> </a:t>
            </a:r>
            <a:r>
              <a:rPr lang="fr-LU" dirty="0" err="1"/>
              <a:t>across</a:t>
            </a:r>
            <a:r>
              <a:rPr lang="fr-LU" dirty="0"/>
              <a:t> </a:t>
            </a:r>
            <a:r>
              <a:rPr lang="fr-LU" dirty="0" err="1"/>
              <a:t>examples</a:t>
            </a:r>
            <a:endParaRPr lang="fr-LU" dirty="0"/>
          </a:p>
        </p:txBody>
      </p:sp>
    </p:spTree>
    <p:extLst>
      <p:ext uri="{BB962C8B-B14F-4D97-AF65-F5344CB8AC3E}">
        <p14:creationId xmlns:p14="http://schemas.microsoft.com/office/powerpoint/2010/main" val="18546807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4109E-AE9E-F310-CB50-22CA51653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FC3E5-6B0A-A348-DCEC-D94A11F07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Loss – Face Detection</a:t>
            </a:r>
            <a:endParaRPr lang="fr-LU" dirty="0">
              <a:highlight>
                <a:srgbClr val="FFFF00"/>
              </a:highlight>
            </a:endParaRPr>
          </a:p>
        </p:txBody>
      </p:sp>
      <p:pic>
        <p:nvPicPr>
          <p:cNvPr id="2050" name="Picture 2" descr="Face Detection - Face Recognition Dataset">
            <a:extLst>
              <a:ext uri="{FF2B5EF4-FFF2-40B4-BE49-F238E27FC236}">
                <a16:creationId xmlns:a16="http://schemas.microsoft.com/office/drawing/2014/main" id="{0C95DEC5-60FE-1841-3358-7E2D872E3E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5369" y="1464444"/>
            <a:ext cx="4413414" cy="4714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41433DD-9D2E-1B47-7F5E-605AB660EC65}"/>
              </a:ext>
            </a:extLst>
          </p:cNvPr>
          <p:cNvSpPr txBox="1"/>
          <p:nvPr/>
        </p:nvSpPr>
        <p:spPr>
          <a:xfrm>
            <a:off x="838200" y="6308209"/>
            <a:ext cx="8134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LU" dirty="0"/>
              <a:t>https://www.kaggle.com/datasets/trainingdatapro/face-detection-photos-and-labels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FAE2B1B-9096-AB9D-A75B-1313DEC65045}"/>
              </a:ext>
            </a:extLst>
          </p:cNvPr>
          <p:cNvSpPr/>
          <p:nvPr/>
        </p:nvSpPr>
        <p:spPr>
          <a:xfrm>
            <a:off x="6561056" y="4449452"/>
            <a:ext cx="914400" cy="131975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L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E1E6A9E-1FA1-5003-1948-FDC52FD37581}"/>
              </a:ext>
            </a:extLst>
          </p:cNvPr>
          <p:cNvSpPr/>
          <p:nvPr/>
        </p:nvSpPr>
        <p:spPr>
          <a:xfrm>
            <a:off x="6006446" y="1566420"/>
            <a:ext cx="914400" cy="131975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LU"/>
          </a:p>
        </p:txBody>
      </p:sp>
    </p:spTree>
    <p:extLst>
      <p:ext uri="{BB962C8B-B14F-4D97-AF65-F5344CB8AC3E}">
        <p14:creationId xmlns:p14="http://schemas.microsoft.com/office/powerpoint/2010/main" val="14059759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01632-F174-536B-145D-9C590579D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Loss – Face Detection</a:t>
            </a:r>
            <a:endParaRPr lang="fr-L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F383B8-D337-4763-62A3-D4A219B9FAB3}"/>
              </a:ext>
            </a:extLst>
          </p:cNvPr>
          <p:cNvSpPr txBox="1"/>
          <p:nvPr/>
        </p:nvSpPr>
        <p:spPr>
          <a:xfrm>
            <a:off x="838200" y="6308209"/>
            <a:ext cx="8134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LU" dirty="0"/>
              <a:t>https://www.kaggle.com/datasets/trainingdatapro/face-detection-photos-and-labels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0DB8DC-07EF-E999-D2BE-641B366F2D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3422" y="1442301"/>
            <a:ext cx="4457933" cy="4713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8512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0E42F-451B-06CC-C97E-A8EA08AAC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289A0-766A-7EF8-D032-6F5058A42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Loss – Face Recognition</a:t>
            </a:r>
            <a:endParaRPr lang="fr-L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B6AB2F-D8E7-C0B9-86C2-B44BD580B1A5}"/>
              </a:ext>
            </a:extLst>
          </p:cNvPr>
          <p:cNvSpPr txBox="1"/>
          <p:nvPr/>
        </p:nvSpPr>
        <p:spPr>
          <a:xfrm>
            <a:off x="999241" y="6123543"/>
            <a:ext cx="43650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LU" dirty="0"/>
              <a:t>https://ar5iv.labs.arxiv.org/html/1801.05678</a:t>
            </a:r>
          </a:p>
        </p:txBody>
      </p:sp>
      <p:pic>
        <p:nvPicPr>
          <p:cNvPr id="1028" name="Picture 4" descr="Refer to caption">
            <a:extLst>
              <a:ext uri="{FF2B5EF4-FFF2-40B4-BE49-F238E27FC236}">
                <a16:creationId xmlns:a16="http://schemas.microsoft.com/office/drawing/2014/main" id="{94F6D8E9-0F98-6030-854F-6961B9C53E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323" y="1619217"/>
            <a:ext cx="6545055" cy="4314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BF863FA4-504F-3BB2-704B-D1F8357B27C9}"/>
              </a:ext>
            </a:extLst>
          </p:cNvPr>
          <p:cNvSpPr/>
          <p:nvPr/>
        </p:nvSpPr>
        <p:spPr>
          <a:xfrm>
            <a:off x="680495" y="1483951"/>
            <a:ext cx="1291472" cy="2347274"/>
          </a:xfrm>
          <a:prstGeom prst="ellipse">
            <a:avLst/>
          </a:prstGeom>
          <a:noFill/>
          <a:ln w="762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LU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AB723B4-447E-6043-F207-8059CB774EBD}"/>
              </a:ext>
            </a:extLst>
          </p:cNvPr>
          <p:cNvSpPr/>
          <p:nvPr/>
        </p:nvSpPr>
        <p:spPr>
          <a:xfrm>
            <a:off x="1753973" y="1483951"/>
            <a:ext cx="1291472" cy="2347274"/>
          </a:xfrm>
          <a:prstGeom prst="ellipse">
            <a:avLst/>
          </a:prstGeom>
          <a:noFill/>
          <a:ln w="762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LU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8E05660-5972-FC68-B34C-4895697EDA63}"/>
              </a:ext>
            </a:extLst>
          </p:cNvPr>
          <p:cNvSpPr/>
          <p:nvPr/>
        </p:nvSpPr>
        <p:spPr>
          <a:xfrm>
            <a:off x="4003639" y="1483951"/>
            <a:ext cx="1291472" cy="2347274"/>
          </a:xfrm>
          <a:prstGeom prst="ellipse">
            <a:avLst/>
          </a:prstGeom>
          <a:noFill/>
          <a:ln w="762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LU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69049ED-88BA-7B82-7870-10B138C7FBBC}"/>
              </a:ext>
            </a:extLst>
          </p:cNvPr>
          <p:cNvSpPr/>
          <p:nvPr/>
        </p:nvSpPr>
        <p:spPr>
          <a:xfrm>
            <a:off x="5105595" y="1454066"/>
            <a:ext cx="1291472" cy="2347274"/>
          </a:xfrm>
          <a:prstGeom prst="ellipse">
            <a:avLst/>
          </a:prstGeom>
          <a:noFill/>
          <a:ln w="762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LU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27F3A49-F88E-7758-BF14-D7A48B691E35}"/>
              </a:ext>
            </a:extLst>
          </p:cNvPr>
          <p:cNvSpPr/>
          <p:nvPr/>
        </p:nvSpPr>
        <p:spPr>
          <a:xfrm>
            <a:off x="6281197" y="1428995"/>
            <a:ext cx="1291472" cy="2347274"/>
          </a:xfrm>
          <a:prstGeom prst="ellipse">
            <a:avLst/>
          </a:prstGeom>
          <a:noFill/>
          <a:ln w="762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LU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4CE71E5-F114-84A7-4A7B-041DD0673267}"/>
              </a:ext>
            </a:extLst>
          </p:cNvPr>
          <p:cNvSpPr/>
          <p:nvPr/>
        </p:nvSpPr>
        <p:spPr>
          <a:xfrm>
            <a:off x="5127106" y="3674210"/>
            <a:ext cx="1291472" cy="2347274"/>
          </a:xfrm>
          <a:prstGeom prst="ellipse">
            <a:avLst/>
          </a:prstGeom>
          <a:noFill/>
          <a:ln w="762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LU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7F001B5-B0AC-6353-B9BB-ECDF10EED279}"/>
              </a:ext>
            </a:extLst>
          </p:cNvPr>
          <p:cNvSpPr/>
          <p:nvPr/>
        </p:nvSpPr>
        <p:spPr>
          <a:xfrm>
            <a:off x="1791089" y="3691428"/>
            <a:ext cx="1291472" cy="2347274"/>
          </a:xfrm>
          <a:prstGeom prst="ellipse">
            <a:avLst/>
          </a:prstGeom>
          <a:noFill/>
          <a:ln w="762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LU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C794200-C834-299B-386A-BB391F5E6DC7}"/>
              </a:ext>
            </a:extLst>
          </p:cNvPr>
          <p:cNvSpPr/>
          <p:nvPr/>
        </p:nvSpPr>
        <p:spPr>
          <a:xfrm>
            <a:off x="2893045" y="3691428"/>
            <a:ext cx="1291472" cy="2347274"/>
          </a:xfrm>
          <a:prstGeom prst="ellipse">
            <a:avLst/>
          </a:prstGeom>
          <a:noFill/>
          <a:ln w="762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LU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FA5D79B-B629-1362-E622-65E435E1BB5F}"/>
              </a:ext>
            </a:extLst>
          </p:cNvPr>
          <p:cNvSpPr/>
          <p:nvPr/>
        </p:nvSpPr>
        <p:spPr>
          <a:xfrm>
            <a:off x="4025150" y="3691428"/>
            <a:ext cx="1291472" cy="2347274"/>
          </a:xfrm>
          <a:prstGeom prst="ellipse">
            <a:avLst/>
          </a:prstGeom>
          <a:noFill/>
          <a:ln w="762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LU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0916572-4FDD-3C1A-88E7-CAEC3B5209F9}"/>
              </a:ext>
            </a:extLst>
          </p:cNvPr>
          <p:cNvSpPr/>
          <p:nvPr/>
        </p:nvSpPr>
        <p:spPr>
          <a:xfrm>
            <a:off x="6229644" y="3693656"/>
            <a:ext cx="1291472" cy="2347274"/>
          </a:xfrm>
          <a:prstGeom prst="ellipse">
            <a:avLst/>
          </a:prstGeom>
          <a:noFill/>
          <a:ln w="762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LU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18B11E7E-DE52-5583-0F38-8E70D2EEA762}"/>
              </a:ext>
            </a:extLst>
          </p:cNvPr>
          <p:cNvSpPr/>
          <p:nvPr/>
        </p:nvSpPr>
        <p:spPr>
          <a:xfrm>
            <a:off x="2936542" y="1520997"/>
            <a:ext cx="1291472" cy="2347274"/>
          </a:xfrm>
          <a:prstGeom prst="ellipse">
            <a:avLst/>
          </a:prstGeom>
          <a:noFill/>
          <a:ln w="762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LU">
              <a:solidFill>
                <a:srgbClr val="FF5050"/>
              </a:solidFill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2E38A14-A52F-E364-D996-DD4E6D1F8980}"/>
              </a:ext>
            </a:extLst>
          </p:cNvPr>
          <p:cNvSpPr/>
          <p:nvPr/>
        </p:nvSpPr>
        <p:spPr>
          <a:xfrm>
            <a:off x="723992" y="3751198"/>
            <a:ext cx="1291472" cy="2347274"/>
          </a:xfrm>
          <a:prstGeom prst="ellipse">
            <a:avLst/>
          </a:prstGeom>
          <a:noFill/>
          <a:ln w="762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LU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0019357-D914-D0AC-2E1B-3EDC1EB10984}"/>
              </a:ext>
            </a:extLst>
          </p:cNvPr>
          <p:cNvCxnSpPr/>
          <p:nvPr/>
        </p:nvCxnSpPr>
        <p:spPr>
          <a:xfrm flipH="1">
            <a:off x="847323" y="3751198"/>
            <a:ext cx="1124644" cy="2182123"/>
          </a:xfrm>
          <a:prstGeom prst="line">
            <a:avLst/>
          </a:prstGeom>
          <a:ln w="57150">
            <a:solidFill>
              <a:srgbClr val="FF5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12AEA63-AFC3-8F2D-C595-7630DEA8C730}"/>
              </a:ext>
            </a:extLst>
          </p:cNvPr>
          <p:cNvCxnSpPr>
            <a:cxnSpLocks/>
          </p:cNvCxnSpPr>
          <p:nvPr/>
        </p:nvCxnSpPr>
        <p:spPr>
          <a:xfrm flipH="1" flipV="1">
            <a:off x="756884" y="3831225"/>
            <a:ext cx="1193572" cy="2148485"/>
          </a:xfrm>
          <a:prstGeom prst="line">
            <a:avLst/>
          </a:prstGeom>
          <a:ln w="57150">
            <a:solidFill>
              <a:srgbClr val="FF5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D87C8AC-20A1-3BD1-33F8-E1B882EECB72}"/>
              </a:ext>
            </a:extLst>
          </p:cNvPr>
          <p:cNvCxnSpPr/>
          <p:nvPr/>
        </p:nvCxnSpPr>
        <p:spPr>
          <a:xfrm flipH="1">
            <a:off x="2979839" y="1545197"/>
            <a:ext cx="1124644" cy="2182123"/>
          </a:xfrm>
          <a:prstGeom prst="line">
            <a:avLst/>
          </a:prstGeom>
          <a:ln w="57150">
            <a:solidFill>
              <a:srgbClr val="FF5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E667926-6A8F-77B8-8659-9F31EA9E2426}"/>
              </a:ext>
            </a:extLst>
          </p:cNvPr>
          <p:cNvCxnSpPr>
            <a:cxnSpLocks/>
          </p:cNvCxnSpPr>
          <p:nvPr/>
        </p:nvCxnSpPr>
        <p:spPr>
          <a:xfrm flipH="1" flipV="1">
            <a:off x="3012931" y="1593863"/>
            <a:ext cx="1193572" cy="2148485"/>
          </a:xfrm>
          <a:prstGeom prst="line">
            <a:avLst/>
          </a:prstGeom>
          <a:ln w="57150">
            <a:solidFill>
              <a:srgbClr val="FF5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77179FCB-D509-3A31-F79E-AB3E916045AE}"/>
              </a:ext>
            </a:extLst>
          </p:cNvPr>
          <p:cNvSpPr txBox="1"/>
          <p:nvPr/>
        </p:nvSpPr>
        <p:spPr>
          <a:xfrm>
            <a:off x="7733318" y="1898078"/>
            <a:ext cx="302630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Crude option:</a:t>
            </a:r>
          </a:p>
          <a:p>
            <a:r>
              <a:rPr lang="en-US" dirty="0"/>
              <a:t>- Correct answer: loss = 0</a:t>
            </a:r>
          </a:p>
          <a:p>
            <a:r>
              <a:rPr lang="en-US" dirty="0"/>
              <a:t>- Wrong answer: loss = 1</a:t>
            </a:r>
          </a:p>
          <a:p>
            <a:endParaRPr lang="en-US" dirty="0"/>
          </a:p>
          <a:p>
            <a:r>
              <a:rPr lang="en-US" dirty="0"/>
              <a:t>Better option:</a:t>
            </a:r>
          </a:p>
          <a:p>
            <a:pPr marL="285750" indent="-285750">
              <a:buFontTx/>
              <a:buChar char="-"/>
            </a:pPr>
            <a:r>
              <a:rPr lang="en-US" dirty="0"/>
              <a:t>Loss as 1 –minus confidence in the correct answer</a:t>
            </a:r>
            <a:endParaRPr lang="ru-RU" dirty="0"/>
          </a:p>
          <a:p>
            <a:pPr marL="285750" indent="-285750">
              <a:buFontTx/>
              <a:buChar char="-"/>
            </a:pPr>
            <a:endParaRPr lang="ru-RU" dirty="0"/>
          </a:p>
          <a:p>
            <a:r>
              <a:rPr lang="fr-LU" dirty="0"/>
              <a:t>There are </a:t>
            </a:r>
            <a:r>
              <a:rPr lang="fr-LU" dirty="0" err="1"/>
              <a:t>even</a:t>
            </a:r>
            <a:r>
              <a:rPr lang="fr-LU" dirty="0"/>
              <a:t> </a:t>
            </a:r>
            <a:r>
              <a:rPr lang="fr-LU" dirty="0" err="1"/>
              <a:t>better</a:t>
            </a:r>
            <a:r>
              <a:rPr lang="fr-LU" dirty="0"/>
              <a:t> options.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2187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8" grpId="0" animBg="1"/>
      <p:bldP spid="8" grpId="1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7" grpId="0" animBg="1"/>
      <p:bldP spid="3" grpId="0" animBg="1"/>
      <p:bldP spid="3" grpId="1" animBg="1"/>
      <p:bldP spid="4" grpId="0" animBg="1"/>
      <p:bldP spid="4" grpId="1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7598E-718A-5A1C-DC7C-CCF8F3204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1CDBF-8721-A7F7-5235-CA4695A81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Loss – Chatbot</a:t>
            </a:r>
            <a:endParaRPr lang="fr-LU" dirty="0"/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B64995AF-F725-B7EB-A7DA-EFEA7CC8EB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90613" y="1482586"/>
            <a:ext cx="8350546" cy="3892828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84865B76-7B79-85B5-BC31-36FBEF7ECC49}"/>
              </a:ext>
            </a:extLst>
          </p:cNvPr>
          <p:cNvSpPr txBox="1"/>
          <p:nvPr/>
        </p:nvSpPr>
        <p:spPr>
          <a:xfrm>
            <a:off x="9191134" y="2582944"/>
            <a:ext cx="4106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X</a:t>
            </a:r>
            <a:endParaRPr lang="fr-LU" sz="3200" b="1" dirty="0">
              <a:solidFill>
                <a:srgbClr val="FF0000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07938BD-D5EC-818D-1126-720B053185F5}"/>
              </a:ext>
            </a:extLst>
          </p:cNvPr>
          <p:cNvSpPr txBox="1"/>
          <p:nvPr/>
        </p:nvSpPr>
        <p:spPr>
          <a:xfrm>
            <a:off x="9191134" y="4059975"/>
            <a:ext cx="4106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X</a:t>
            </a:r>
            <a:endParaRPr lang="fr-LU" sz="3200" b="1" dirty="0">
              <a:solidFill>
                <a:srgbClr val="FF0000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05A3617-3370-7B10-A968-116DA4CA5FB8}"/>
              </a:ext>
            </a:extLst>
          </p:cNvPr>
          <p:cNvSpPr txBox="1"/>
          <p:nvPr/>
        </p:nvSpPr>
        <p:spPr>
          <a:xfrm>
            <a:off x="9191134" y="2097064"/>
            <a:ext cx="42672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B050"/>
                </a:solidFill>
              </a:rPr>
              <a:t>V</a:t>
            </a:r>
            <a:endParaRPr lang="fr-LU" sz="3200" b="1" dirty="0">
              <a:solidFill>
                <a:srgbClr val="00B050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E09C4A2-9B1D-A722-D557-7E1D45C0592C}"/>
              </a:ext>
            </a:extLst>
          </p:cNvPr>
          <p:cNvSpPr txBox="1"/>
          <p:nvPr/>
        </p:nvSpPr>
        <p:spPr>
          <a:xfrm>
            <a:off x="9183119" y="2989320"/>
            <a:ext cx="42672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B050"/>
                </a:solidFill>
              </a:rPr>
              <a:t>V</a:t>
            </a:r>
            <a:endParaRPr lang="fr-LU" sz="3200" b="1" dirty="0">
              <a:solidFill>
                <a:srgbClr val="00B050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B0613EB-E2F5-7ECF-6A6A-B75995A521F2}"/>
              </a:ext>
            </a:extLst>
          </p:cNvPr>
          <p:cNvSpPr txBox="1"/>
          <p:nvPr/>
        </p:nvSpPr>
        <p:spPr>
          <a:xfrm>
            <a:off x="9191134" y="4466351"/>
            <a:ext cx="42672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B050"/>
                </a:solidFill>
              </a:rPr>
              <a:t>V</a:t>
            </a:r>
            <a:endParaRPr lang="fr-LU" sz="3200" b="1" dirty="0">
              <a:solidFill>
                <a:srgbClr val="00B050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8F7D72E-819B-2559-371B-986A1EEB56EB}"/>
              </a:ext>
            </a:extLst>
          </p:cNvPr>
          <p:cNvSpPr txBox="1"/>
          <p:nvPr/>
        </p:nvSpPr>
        <p:spPr>
          <a:xfrm>
            <a:off x="9191134" y="4838242"/>
            <a:ext cx="42672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B050"/>
                </a:solidFill>
              </a:rPr>
              <a:t>V</a:t>
            </a:r>
            <a:endParaRPr lang="fr-LU" sz="3200" b="1" dirty="0">
              <a:solidFill>
                <a:srgbClr val="00B050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75CD8A7-157D-D104-634B-0E80E8C5C259}"/>
              </a:ext>
            </a:extLst>
          </p:cNvPr>
          <p:cNvSpPr txBox="1"/>
          <p:nvPr/>
        </p:nvSpPr>
        <p:spPr>
          <a:xfrm>
            <a:off x="1877537" y="5423017"/>
            <a:ext cx="835054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Crude option: correct answer - loss = 0,  wrong answer - loss = 1</a:t>
            </a:r>
          </a:p>
          <a:p>
            <a:r>
              <a:rPr lang="en-US" dirty="0"/>
              <a:t>Better option: loss as 1 – minus confidence in the correct answer</a:t>
            </a:r>
          </a:p>
          <a:p>
            <a:r>
              <a:rPr lang="en-US" dirty="0"/>
              <a:t>And there are even better options.</a:t>
            </a:r>
          </a:p>
          <a:p>
            <a:endParaRPr lang="fr-LU" dirty="0"/>
          </a:p>
        </p:txBody>
      </p:sp>
    </p:spTree>
    <p:extLst>
      <p:ext uri="{BB962C8B-B14F-4D97-AF65-F5344CB8AC3E}">
        <p14:creationId xmlns:p14="http://schemas.microsoft.com/office/powerpoint/2010/main" val="15666430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03524-C57F-043C-5AC1-11527FCC5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Knobs to Tweak: Parameters</a:t>
            </a:r>
            <a:endParaRPr lang="fr-L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7D2E14-4BAC-8C64-C84B-5E93E1C474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1727"/>
            <a:ext cx="10515600" cy="631597"/>
          </a:xfrm>
        </p:spPr>
        <p:txBody>
          <a:bodyPr/>
          <a:lstStyle/>
          <a:p>
            <a:r>
              <a:rPr lang="en-US" dirty="0"/>
              <a:t>Find the configuration to minimize loss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3FA0A9-7EBD-0D77-0CB1-FA382340F484}"/>
              </a:ext>
            </a:extLst>
          </p:cNvPr>
          <p:cNvSpPr txBox="1"/>
          <p:nvPr/>
        </p:nvSpPr>
        <p:spPr>
          <a:xfrm>
            <a:off x="469376" y="6123543"/>
            <a:ext cx="112532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LU" dirty="0"/>
              <a:t>https://cdn.dribbble.com/userupload/23411945/file/original-70bcc02537911963499332df0b36b2e3.png</a:t>
            </a:r>
          </a:p>
        </p:txBody>
      </p:sp>
      <p:pic>
        <p:nvPicPr>
          <p:cNvPr id="1026" name="Picture 2" descr="Airbus A320 Cockpit by Mike Nudelman on Dribbble">
            <a:extLst>
              <a:ext uri="{FF2B5EF4-FFF2-40B4-BE49-F238E27FC236}">
                <a16:creationId xmlns:a16="http://schemas.microsoft.com/office/drawing/2014/main" id="{D5EC8374-6865-597C-21FD-F3E306189D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6004" y="1958419"/>
            <a:ext cx="5512649" cy="4134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13699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C676B-2DB8-0370-4EE4-0150EC028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Parameters in Practice</a:t>
            </a:r>
            <a:endParaRPr lang="fr-LU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8891800-A3C1-70F1-51C8-D32DC98FE7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520295"/>
            <a:ext cx="4536481" cy="2848269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ADE1190-CC0B-22D3-81C2-ADB7E53F4C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9436"/>
            <a:ext cx="10515600" cy="820132"/>
          </a:xfrm>
        </p:spPr>
        <p:txBody>
          <a:bodyPr/>
          <a:lstStyle/>
          <a:p>
            <a:r>
              <a:rPr lang="en-US" dirty="0"/>
              <a:t>From common sense decision-making to imitation of human neurons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1AEC091-60E5-64FE-342C-9DFCCC6388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4046" y="2309568"/>
            <a:ext cx="5203595" cy="3469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3159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A2D4E-1798-18F2-51A7-1EB90CB4C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Loss vs Model Parameters</a:t>
            </a:r>
            <a:endParaRPr lang="fr-L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938BD3-FF43-0C79-FE8C-E020730F59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9"/>
            <a:ext cx="10515600" cy="4486274"/>
          </a:xfrm>
        </p:spPr>
        <p:txBody>
          <a:bodyPr/>
          <a:lstStyle/>
          <a:p>
            <a:r>
              <a:rPr lang="en-US" dirty="0"/>
              <a:t>What parameters do we have?</a:t>
            </a:r>
          </a:p>
          <a:p>
            <a:r>
              <a:rPr lang="en-US" dirty="0"/>
              <a:t>Can we find the best combination of parameters?</a:t>
            </a:r>
          </a:p>
          <a:p>
            <a:pPr lvl="1"/>
            <a:r>
              <a:rPr lang="en-US" dirty="0"/>
              <a:t>Best - resulting in a minimal loss</a:t>
            </a:r>
          </a:p>
          <a:p>
            <a:r>
              <a:rPr lang="en-US" dirty="0"/>
              <a:t>How to find the best combination?</a:t>
            </a:r>
          </a:p>
          <a:p>
            <a:pPr lvl="1"/>
            <a:r>
              <a:rPr lang="en-US" dirty="0"/>
              <a:t>We can’t just tweak the knobs randomly</a:t>
            </a:r>
          </a:p>
          <a:p>
            <a:r>
              <a:rPr lang="en-US" dirty="0"/>
              <a:t>Is it good enough?</a:t>
            </a:r>
          </a:p>
          <a:p>
            <a:pPr lvl="1"/>
            <a:r>
              <a:rPr lang="en-US" dirty="0"/>
              <a:t>If not, we made a mistake choosing the model</a:t>
            </a:r>
          </a:p>
          <a:p>
            <a:r>
              <a:rPr lang="en-US" dirty="0"/>
              <a:t>Start with random knobs and improve</a:t>
            </a:r>
          </a:p>
          <a:p>
            <a:pPr lvl="1"/>
            <a:r>
              <a:rPr lang="en-US" dirty="0"/>
              <a:t>But how?</a:t>
            </a:r>
          </a:p>
        </p:txBody>
      </p:sp>
    </p:spTree>
    <p:extLst>
      <p:ext uri="{BB962C8B-B14F-4D97-AF65-F5344CB8AC3E}">
        <p14:creationId xmlns:p14="http://schemas.microsoft.com/office/powerpoint/2010/main" val="16394173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84900-1CC2-6AEB-ED58-AFF468C7F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Sense of Gradient Descent</a:t>
            </a:r>
            <a:endParaRPr lang="fr-L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F2668C-2195-3CBA-9AC1-2E156E7708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3068" y="1291209"/>
            <a:ext cx="8003748" cy="5335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52860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6E8A9-89A5-417C-CE05-803F38949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Train the Model</a:t>
            </a:r>
            <a:endParaRPr lang="fr-LU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631719F-EA3C-6263-029A-176EAEE7D2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4787" y="1473870"/>
            <a:ext cx="7884194" cy="3314945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B20DB33-95FB-76F6-BD30-47E3C7068E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2861" y="4893606"/>
            <a:ext cx="10326278" cy="1857080"/>
          </a:xfrm>
        </p:spPr>
        <p:txBody>
          <a:bodyPr>
            <a:normAutofit lnSpcReduction="10000"/>
          </a:bodyPr>
          <a:lstStyle/>
          <a:p>
            <a:r>
              <a:rPr lang="en-US" sz="3200" dirty="0"/>
              <a:t>Input: 28x28 grayscale pictures</a:t>
            </a:r>
          </a:p>
          <a:p>
            <a:r>
              <a:rPr lang="en-US" sz="3200" dirty="0"/>
              <a:t>Expected answer: the digit</a:t>
            </a:r>
          </a:p>
          <a:p>
            <a:r>
              <a:rPr lang="en-US" sz="3200" dirty="0"/>
              <a:t>70000 examples</a:t>
            </a:r>
          </a:p>
          <a:p>
            <a:pPr marL="0" indent="0">
              <a:buNone/>
            </a:pPr>
            <a:r>
              <a:rPr lang="en-US" sz="1300" dirty="0"/>
              <a:t>https://web.archive.org/web/20200430193701/http://yann.lecun.com/exdb/mnist/</a:t>
            </a:r>
          </a:p>
        </p:txBody>
      </p:sp>
    </p:spTree>
    <p:extLst>
      <p:ext uri="{BB962C8B-B14F-4D97-AF65-F5344CB8AC3E}">
        <p14:creationId xmlns:p14="http://schemas.microsoft.com/office/powerpoint/2010/main" val="25861736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5FCAB-E9F8-8308-5211-E0E39EAD7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Are We Doing?</a:t>
            </a:r>
            <a:endParaRPr lang="fr-L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A4ED9C-D0A9-4CCA-04D9-842AD6D915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8808"/>
            <a:ext cx="10515600" cy="587637"/>
          </a:xfrm>
        </p:spPr>
        <p:txBody>
          <a:bodyPr/>
          <a:lstStyle/>
          <a:p>
            <a:r>
              <a:rPr lang="en-US" dirty="0"/>
              <a:t>Let’s hold out some data for later independent verification</a:t>
            </a:r>
            <a:endParaRPr lang="fr-L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BAA569-4E1D-8568-96BC-4BAC36A054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217" y="2121720"/>
            <a:ext cx="9238268" cy="4371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94740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753EF-D489-1D13-EBFA-B4954B4E2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Add More Knobs to Turn</a:t>
            </a:r>
            <a:endParaRPr lang="fr-L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09D027-1712-BF6B-3A91-6CB58B3764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7142"/>
            <a:ext cx="10515600" cy="527902"/>
          </a:xfrm>
        </p:spPr>
        <p:txBody>
          <a:bodyPr/>
          <a:lstStyle/>
          <a:p>
            <a:r>
              <a:rPr lang="en-US" dirty="0"/>
              <a:t>Complex model, less data. What can go wrong?</a:t>
            </a:r>
            <a:endParaRPr lang="fr-L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BD5CF3-C608-4744-2E4B-9F968B3208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6056" y="1978942"/>
            <a:ext cx="9534427" cy="4767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9301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542FA-87BA-A9C2-7AF2-21E8A761C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Overfit</a:t>
            </a:r>
            <a:endParaRPr lang="fr-L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E2A105-E537-BF22-3AA8-B9000C4F1B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8033"/>
            <a:ext cx="10515600" cy="3214540"/>
          </a:xfrm>
        </p:spPr>
        <p:txBody>
          <a:bodyPr/>
          <a:lstStyle/>
          <a:p>
            <a:r>
              <a:rPr lang="en-US" dirty="0"/>
              <a:t>Works on training examples but fails independent tests</a:t>
            </a:r>
          </a:p>
          <a:p>
            <a:r>
              <a:rPr lang="en-US" b="1" dirty="0"/>
              <a:t>It did not learn, it memorized</a:t>
            </a:r>
          </a:p>
          <a:p>
            <a:r>
              <a:rPr lang="en-US" dirty="0"/>
              <a:t>The digits just happened to look that way…</a:t>
            </a:r>
          </a:p>
          <a:p>
            <a:r>
              <a:rPr lang="en-US" dirty="0"/>
              <a:t>But the model thought they can look ONLY that way</a:t>
            </a:r>
          </a:p>
          <a:p>
            <a:r>
              <a:rPr lang="en-US" dirty="0"/>
              <a:t>Unless the digits are very close to examples, it will fail</a:t>
            </a:r>
          </a:p>
          <a:p>
            <a:r>
              <a:rPr lang="en-US" dirty="0"/>
              <a:t>Need more data or/and simpler model</a:t>
            </a:r>
            <a:endParaRPr lang="fr-L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C5052F-B1CC-F61F-D2F1-29B21B1BA9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50" y="4849452"/>
            <a:ext cx="10248900" cy="1038225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40BC9573-20B6-F8D7-535E-0273F600E23B}"/>
              </a:ext>
            </a:extLst>
          </p:cNvPr>
          <p:cNvSpPr/>
          <p:nvPr/>
        </p:nvSpPr>
        <p:spPr>
          <a:xfrm>
            <a:off x="971550" y="4849451"/>
            <a:ext cx="1036948" cy="1038225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LU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9AE7D85-E408-3923-36F1-186612412EA1}"/>
              </a:ext>
            </a:extLst>
          </p:cNvPr>
          <p:cNvSpPr/>
          <p:nvPr/>
        </p:nvSpPr>
        <p:spPr>
          <a:xfrm>
            <a:off x="2141848" y="4849450"/>
            <a:ext cx="827595" cy="1038225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LU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584B136-2AFC-AA0B-D8CE-B00F4FEABEC1}"/>
              </a:ext>
            </a:extLst>
          </p:cNvPr>
          <p:cNvSpPr/>
          <p:nvPr/>
        </p:nvSpPr>
        <p:spPr>
          <a:xfrm>
            <a:off x="3102793" y="4849450"/>
            <a:ext cx="1036948" cy="1038225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LU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68603CE-C2D9-2EAA-2D34-5746F45F0E18}"/>
              </a:ext>
            </a:extLst>
          </p:cNvPr>
          <p:cNvSpPr/>
          <p:nvPr/>
        </p:nvSpPr>
        <p:spPr>
          <a:xfrm>
            <a:off x="4179313" y="4849449"/>
            <a:ext cx="913026" cy="1038225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LU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1F240D8-BBA3-42C4-8253-EF15983B92AA}"/>
              </a:ext>
            </a:extLst>
          </p:cNvPr>
          <p:cNvSpPr/>
          <p:nvPr/>
        </p:nvSpPr>
        <p:spPr>
          <a:xfrm>
            <a:off x="5216261" y="4849448"/>
            <a:ext cx="1036948" cy="1038225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LU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2D99C06-8846-467D-8870-31F5548A9C1F}"/>
              </a:ext>
            </a:extLst>
          </p:cNvPr>
          <p:cNvSpPr/>
          <p:nvPr/>
        </p:nvSpPr>
        <p:spPr>
          <a:xfrm>
            <a:off x="6319984" y="4889828"/>
            <a:ext cx="943170" cy="957463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LU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AEAB0A4-F635-2408-123D-67A7B0D185FB}"/>
              </a:ext>
            </a:extLst>
          </p:cNvPr>
          <p:cNvSpPr/>
          <p:nvPr/>
        </p:nvSpPr>
        <p:spPr>
          <a:xfrm>
            <a:off x="7367290" y="4849446"/>
            <a:ext cx="827595" cy="1038225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LU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7673843-2FAF-9C90-456C-7C0B2CC8E8EF}"/>
              </a:ext>
            </a:extLst>
          </p:cNvPr>
          <p:cNvSpPr/>
          <p:nvPr/>
        </p:nvSpPr>
        <p:spPr>
          <a:xfrm>
            <a:off x="8377235" y="4809066"/>
            <a:ext cx="780412" cy="1038225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LU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FF0BF44-0FE4-55F1-595A-C945E7D016F8}"/>
              </a:ext>
            </a:extLst>
          </p:cNvPr>
          <p:cNvSpPr/>
          <p:nvPr/>
        </p:nvSpPr>
        <p:spPr>
          <a:xfrm>
            <a:off x="9337050" y="4809066"/>
            <a:ext cx="981861" cy="1038225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LU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8F9FC25-2EF3-3D2D-E03B-B4088776A84B}"/>
              </a:ext>
            </a:extLst>
          </p:cNvPr>
          <p:cNvSpPr/>
          <p:nvPr/>
        </p:nvSpPr>
        <p:spPr>
          <a:xfrm>
            <a:off x="10404807" y="4837336"/>
            <a:ext cx="729747" cy="1038225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LU"/>
          </a:p>
        </p:txBody>
      </p:sp>
    </p:spTree>
    <p:extLst>
      <p:ext uri="{BB962C8B-B14F-4D97-AF65-F5344CB8AC3E}">
        <p14:creationId xmlns:p14="http://schemas.microsoft.com/office/powerpoint/2010/main" val="414226576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5CC54-2B2A-83EA-059D-2218AB8EB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Make It Simpler…</a:t>
            </a:r>
            <a:endParaRPr lang="fr-L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FB4F7F-9B21-1ABC-B386-CC384C916A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16109"/>
            <a:ext cx="10054342" cy="4876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911760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EE00E-CA4F-3C9E-16F2-755BF3EF8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Underfit</a:t>
            </a:r>
            <a:endParaRPr lang="fr-L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70909E-81E1-58E4-A399-172564791D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6569"/>
            <a:ext cx="10515600" cy="4640395"/>
          </a:xfrm>
        </p:spPr>
        <p:txBody>
          <a:bodyPr/>
          <a:lstStyle/>
          <a:p>
            <a:r>
              <a:rPr lang="en-US" dirty="0"/>
              <a:t>The model just does not work</a:t>
            </a:r>
          </a:p>
          <a:p>
            <a:r>
              <a:rPr lang="en-US" dirty="0"/>
              <a:t>It fails on training samples</a:t>
            </a:r>
          </a:p>
          <a:p>
            <a:r>
              <a:rPr lang="en-US" dirty="0"/>
              <a:t>It fails on independent tests</a:t>
            </a:r>
          </a:p>
          <a:p>
            <a:r>
              <a:rPr lang="en-US" dirty="0"/>
              <a:t>More data will not help</a:t>
            </a:r>
          </a:p>
          <a:p>
            <a:r>
              <a:rPr lang="en-US" dirty="0"/>
              <a:t>Not enough capacity to learn</a:t>
            </a:r>
          </a:p>
          <a:p>
            <a:r>
              <a:rPr lang="en-US" b="1" dirty="0"/>
              <a:t>Model cannot learn what it cannot even imagine</a:t>
            </a:r>
          </a:p>
          <a:p>
            <a:r>
              <a:rPr lang="en-US" dirty="0"/>
              <a:t>Too few parameters – can imagine only a few things</a:t>
            </a:r>
          </a:p>
          <a:p>
            <a:endParaRPr lang="fr-LU" dirty="0"/>
          </a:p>
        </p:txBody>
      </p:sp>
    </p:spTree>
    <p:extLst>
      <p:ext uri="{BB962C8B-B14F-4D97-AF65-F5344CB8AC3E}">
        <p14:creationId xmlns:p14="http://schemas.microsoft.com/office/powerpoint/2010/main" val="16911357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57A55-ED47-9AF6-2A7B-EAE88B1CE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Cats Vs Dogs</a:t>
            </a:r>
            <a:endParaRPr lang="fr-L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7ED257-02C8-B4CF-F697-36E8A6E3ED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900" y="1444625"/>
            <a:ext cx="10629900" cy="504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25625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E7F8F-4B34-B1F4-EE11-170BCC107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Explainability</a:t>
            </a:r>
            <a:endParaRPr lang="fr-L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8C344A-3203-C0AF-C53B-CE1D8C79A0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/>
          <a:lstStyle/>
          <a:p>
            <a:r>
              <a:rPr lang="en-US" dirty="0"/>
              <a:t>Why did the model make any particular decision?</a:t>
            </a:r>
          </a:p>
          <a:p>
            <a:pPr lvl="1"/>
            <a:r>
              <a:rPr lang="en-US" dirty="0"/>
              <a:t>Need to understand?</a:t>
            </a:r>
          </a:p>
          <a:p>
            <a:pPr lvl="1"/>
            <a:r>
              <a:rPr lang="en-US" dirty="0"/>
              <a:t>Need to investigate any particular example?</a:t>
            </a:r>
          </a:p>
          <a:p>
            <a:pPr lvl="1"/>
            <a:r>
              <a:rPr lang="en-US" dirty="0"/>
              <a:t>Need to explain the decision to the user?</a:t>
            </a:r>
          </a:p>
          <a:p>
            <a:r>
              <a:rPr lang="en-US" dirty="0"/>
              <a:t>Might be very unclear</a:t>
            </a:r>
          </a:p>
          <a:p>
            <a:r>
              <a:rPr lang="en-US" dirty="0"/>
              <a:t>But extremely important for practice</a:t>
            </a:r>
          </a:p>
          <a:p>
            <a:r>
              <a:rPr lang="en-US" dirty="0"/>
              <a:t>The whole area of research</a:t>
            </a:r>
          </a:p>
        </p:txBody>
      </p:sp>
    </p:spTree>
    <p:extLst>
      <p:ext uri="{BB962C8B-B14F-4D97-AF65-F5344CB8AC3E}">
        <p14:creationId xmlns:p14="http://schemas.microsoft.com/office/powerpoint/2010/main" val="389292787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B29E6-D221-1086-FE55-CF698B6BE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From Examples</a:t>
            </a:r>
            <a:endParaRPr lang="fr-L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8E1277-F09D-7EDE-5F3E-B6715F3512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6153" y="1885361"/>
            <a:ext cx="4623061" cy="4119512"/>
          </a:xfrm>
        </p:spPr>
        <p:txBody>
          <a:bodyPr/>
          <a:lstStyle/>
          <a:p>
            <a:r>
              <a:rPr lang="en-US" dirty="0"/>
              <a:t>Plenty of models</a:t>
            </a:r>
          </a:p>
          <a:p>
            <a:r>
              <a:rPr lang="en-US" dirty="0"/>
              <a:t>Billions of parameters</a:t>
            </a:r>
          </a:p>
          <a:p>
            <a:r>
              <a:rPr lang="en-US" dirty="0"/>
              <a:t>Different “</a:t>
            </a:r>
            <a:r>
              <a:rPr lang="en-US" dirty="0" err="1"/>
              <a:t>why”s</a:t>
            </a:r>
            <a:endParaRPr lang="en-US" dirty="0"/>
          </a:p>
          <a:p>
            <a:r>
              <a:rPr lang="en-US" dirty="0"/>
              <a:t>Different purpose</a:t>
            </a:r>
          </a:p>
          <a:p>
            <a:r>
              <a:rPr lang="en-US" dirty="0"/>
              <a:t>Different architecture</a:t>
            </a:r>
          </a:p>
          <a:p>
            <a:r>
              <a:rPr lang="en-US" dirty="0"/>
              <a:t>But the same main principles</a:t>
            </a:r>
          </a:p>
        </p:txBody>
      </p:sp>
      <p:pic>
        <p:nvPicPr>
          <p:cNvPr id="12290" name="Picture 2" descr="A chronological overview of large language models (LLMs ...">
            <a:extLst>
              <a:ext uri="{FF2B5EF4-FFF2-40B4-BE49-F238E27FC236}">
                <a16:creationId xmlns:a16="http://schemas.microsoft.com/office/drawing/2014/main" id="{54134B32-6783-23B1-4489-A9A4D0BE03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354833"/>
            <a:ext cx="5893879" cy="4753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1023004-02BE-BA85-7CE7-9B96D898A72D}"/>
              </a:ext>
            </a:extLst>
          </p:cNvPr>
          <p:cNvSpPr txBox="1"/>
          <p:nvPr/>
        </p:nvSpPr>
        <p:spPr>
          <a:xfrm>
            <a:off x="624526" y="6215876"/>
            <a:ext cx="953756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LU" sz="1200" dirty="0"/>
              <a:t>https://www.researchgate.net/figure/A-chronological-overview-of-large-language-models-LLMs-multimodal-and-scientific_fig2_373451304</a:t>
            </a:r>
          </a:p>
        </p:txBody>
      </p:sp>
    </p:spTree>
    <p:extLst>
      <p:ext uri="{BB962C8B-B14F-4D97-AF65-F5344CB8AC3E}">
        <p14:creationId xmlns:p14="http://schemas.microsoft.com/office/powerpoint/2010/main" val="301294779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91F55-DFA2-3089-63A5-C8A5657B8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88193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Thanks for your attention!</a:t>
            </a:r>
            <a:endParaRPr lang="fr-LU" dirty="0"/>
          </a:p>
        </p:txBody>
      </p:sp>
    </p:spTree>
    <p:extLst>
      <p:ext uri="{BB962C8B-B14F-4D97-AF65-F5344CB8AC3E}">
        <p14:creationId xmlns:p14="http://schemas.microsoft.com/office/powerpoint/2010/main" val="17150675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9377</TotalTime>
  <Words>1013</Words>
  <Application>Microsoft Office PowerPoint</Application>
  <PresentationFormat>Widescreen</PresentationFormat>
  <Paragraphs>157</Paragraphs>
  <Slides>36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0" baseType="lpstr">
      <vt:lpstr>Arial</vt:lpstr>
      <vt:lpstr>Calibri</vt:lpstr>
      <vt:lpstr>Calibri Light</vt:lpstr>
      <vt:lpstr>Office Theme</vt:lpstr>
      <vt:lpstr>Learning from Examples</vt:lpstr>
      <vt:lpstr>Artificial Intelligence – Everywhere Today</vt:lpstr>
      <vt:lpstr>Even the Illustrations</vt:lpstr>
      <vt:lpstr>Machine Learning</vt:lpstr>
      <vt:lpstr>Memorize All Combinations?</vt:lpstr>
      <vt:lpstr>Define some rules?</vt:lpstr>
      <vt:lpstr>One More Problem: Perception Difference</vt:lpstr>
      <vt:lpstr>One More Problem: Perception Difference</vt:lpstr>
      <vt:lpstr>Solution – Learn from Examples</vt:lpstr>
      <vt:lpstr>Examples – Face Detection</vt:lpstr>
      <vt:lpstr>Examples – Object Detection</vt:lpstr>
      <vt:lpstr>Examples – Face Recognition</vt:lpstr>
      <vt:lpstr>Examples - Chatbot</vt:lpstr>
      <vt:lpstr>Examples – Speech to Text</vt:lpstr>
      <vt:lpstr>Examples – Image Generation</vt:lpstr>
      <vt:lpstr>Diffusion-Generated Pictures</vt:lpstr>
      <vt:lpstr>Learning from Examples</vt:lpstr>
      <vt:lpstr>Success Metrics</vt:lpstr>
      <vt:lpstr>Loss – Face Detection</vt:lpstr>
      <vt:lpstr>Loss – Face Detection</vt:lpstr>
      <vt:lpstr>Loss – Face Recognition</vt:lpstr>
      <vt:lpstr>Loss – Chatbot</vt:lpstr>
      <vt:lpstr>Knobs to Tweak: Parameters</vt:lpstr>
      <vt:lpstr>Parameters in Practice</vt:lpstr>
      <vt:lpstr>Loss vs Model Parameters</vt:lpstr>
      <vt:lpstr>Common Sense of Gradient Descent</vt:lpstr>
      <vt:lpstr>Let’s Train the Model</vt:lpstr>
      <vt:lpstr>How Are We Doing?</vt:lpstr>
      <vt:lpstr>Let’s Add More Knobs to Turn</vt:lpstr>
      <vt:lpstr>Overfit</vt:lpstr>
      <vt:lpstr>Let’s Make It Simpler…</vt:lpstr>
      <vt:lpstr>Underfit</vt:lpstr>
      <vt:lpstr>Cats Vs Dogs</vt:lpstr>
      <vt:lpstr>Explainability</vt:lpstr>
      <vt:lpstr>Learning From Examples</vt:lpstr>
      <vt:lpstr>Thanks for your attention!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Andrey BOYTSOV</dc:creator>
  <cp:lastModifiedBy>Andrey BOYTSOV</cp:lastModifiedBy>
  <cp:revision>233</cp:revision>
  <dcterms:created xsi:type="dcterms:W3CDTF">2026-03-15T17:54:04Z</dcterms:created>
  <dcterms:modified xsi:type="dcterms:W3CDTF">2026-03-24T07:51:58Z</dcterms:modified>
</cp:coreProperties>
</file>